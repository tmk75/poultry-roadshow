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88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 Lee" userId="4ac8fe845e5baf01" providerId="LiveId" clId="{A7301673-A515-420D-8616-BA9E226BA25B}"/>
    <pc:docChg chg="custSel modSld">
      <pc:chgData name="Victor Lee" userId="4ac8fe845e5baf01" providerId="LiveId" clId="{A7301673-A515-420D-8616-BA9E226BA25B}" dt="2026-08-28T15:44:10.942" v="6" actId="1076"/>
      <pc:docMkLst>
        <pc:docMk/>
      </pc:docMkLst>
      <pc:sldChg chg="delSp modSp mod">
        <pc:chgData name="Victor Lee" userId="4ac8fe845e5baf01" providerId="LiveId" clId="{A7301673-A515-420D-8616-BA9E226BA25B}" dt="2026-08-28T15:44:10.942" v="6" actId="1076"/>
        <pc:sldMkLst>
          <pc:docMk/>
          <pc:sldMk cId="0" sldId="257"/>
        </pc:sldMkLst>
        <pc:spChg chg="mod">
          <ac:chgData name="Victor Lee" userId="4ac8fe845e5baf01" providerId="LiveId" clId="{A7301673-A515-420D-8616-BA9E226BA25B}" dt="2026-08-28T15:44:10.942" v="6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Victor Lee" userId="4ac8fe845e5baf01" providerId="LiveId" clId="{A7301673-A515-420D-8616-BA9E226BA25B}" dt="2026-08-28T15:43:55.227" v="4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Victor Lee" userId="4ac8fe845e5baf01" providerId="LiveId" clId="{A7301673-A515-420D-8616-BA9E226BA25B}" dt="2026-08-28T15:44:00.501" v="5" actId="1076"/>
          <ac:spMkLst>
            <pc:docMk/>
            <pc:sldMk cId="0" sldId="257"/>
            <ac:spMk id="20" creationId="{00000000-0000-0000-0000-000000000000}"/>
          </ac:spMkLst>
        </pc:spChg>
        <pc:cxnChg chg="del">
          <ac:chgData name="Victor Lee" userId="4ac8fe845e5baf01" providerId="LiveId" clId="{A7301673-A515-420D-8616-BA9E226BA25B}" dt="2026-08-28T15:43:47.238" v="1" actId="478"/>
          <ac:cxnSpMkLst>
            <pc:docMk/>
            <pc:sldMk cId="0" sldId="257"/>
            <ac:cxnSpMk id="10" creationId="{00000000-0000-0000-0000-000000000000}"/>
          </ac:cxnSpMkLst>
        </pc:cxnChg>
        <pc:cxnChg chg="del">
          <ac:chgData name="Victor Lee" userId="4ac8fe845e5baf01" providerId="LiveId" clId="{A7301673-A515-420D-8616-BA9E226BA25B}" dt="2026-08-28T15:43:44.186" v="0" actId="478"/>
          <ac:cxnSpMkLst>
            <pc:docMk/>
            <pc:sldMk cId="0" sldId="257"/>
            <ac:cxnSpMk id="11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3412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GEA times Digit(AI) is not a slogan, it is the equation we are building. One intelligent operating system from bird to bite - built in China, for China, with global reach. Poultry is where we prove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Digit(AI) is not digital plus AI as two separate programs. The physical - our lines, real plants, real birds. The digit - platforms, data, edge and cloud. And AI as the multiplier, not an add-on. One fused operating layer for the whole plant, not three parallel initiatives.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 poultry, why now. 26.6 million tonnes of output, growing 3.8 percent a year. More than 20 billion birds processed in China every year. The world's number-two poultry producer. Labor scarcity, food-safety scrutiny, margin pressure per gram of yield - poultry is the fastest, most data-dense protein, the place where AI learns fastest.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Sunner is the proof. 20.1 billion renminbi revenue in 2025, 800 million broilers a year, Asia's largest full-chain player, world number six. With Shengze 901 they broke a hundred years of foreign monopoly in genetics - and already export to Africa and Central Asia. GEA China's lines have powered that rise for years: that installed base is exactly the data foundation Digit(AI)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Follow one bird. Eight stages, one data thread. From live receiving to packaging, every step sensed, connected, optimizable. On evisceration, chilling and cut-up the AI overlay already changes the economics: vision-guided inspection, autonomous setpoints, yield-optimized cutting - and full-flock traceability from bird to bite.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stack, China-ready by design. Edge and IIoT at the line, with compliant OT paths. A data and cloud layer on Azure China, residency and PIPL aligned. AI and agents - the prime example - on Azure AI Foundry, built in China and designed for global scale. And human plus machine: augmented operators, Chinese-language interfaces, local process fluency.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engine is powered by what the enterprise already runs. SAP is the business backbone. The ontology is the semantic layer: one shared language for assets, flocks and lots. Azure AI Foundry builds and governs the models. And it is a closed loop - every AI decision lands back in the lines and in the ERP. No swivel-chair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Act two - what Digit(AI) can take Sunner to. These are indicative target ranges we would validate against each pilot baseline, not promises: one to two percent more meat yield per bird; fifteen percent less energy; ninety-nine-plus percent line uptime; food-safety warnings 48 hours earlier; twenty percent less water and chemicals; decisions in hours, not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China for China is architecture, not a slogan. Local cloud, edge and AI that meet CSL, DSL and PIPL from day one; decision loops in days; a China digital unit that owns execution; value captured with Chinese customers first. And that is exactly what makes it the China-to-Global proof: build and prove here, at the world's largest volumes, then export the system - while flock data stays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Sunner playbook is a template, not a one-off. Proven with Sunner; amplified by Digit(AI) on the same plants; repeated across China's next integrators - Hefeng, Wens, Chia Tai, New Hope - and then with poultry players worldwide. And the commercial model evolves with it: yield-based pricing, outcome-based contracts, service productization.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future is not a destination. It is a system we build. The Sunner story, written once - ready to repeat everywhere. Poultry AI is the first system we take from China to Global. Let's engineer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8C"/>
                </a:solidFill>
                <a:latin typeface="Inter"/>
                <a:ea typeface="Microsoft YaHei"/>
              </a:rPr>
              <a:t>GEA CHINA × Digit(AI)  ·  PFA POULTRY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8C"/>
                </a:solidFill>
                <a:latin typeface="Inter"/>
                <a:ea typeface="Microsoft YaHei"/>
              </a:rPr>
              <a:t>IN CHINA FOR CHINA  ·  CHINA →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C"/>
                </a:solidFill>
                <a:latin typeface="Consolas"/>
                <a:ea typeface="Microsoft YaHei"/>
              </a:rPr>
              <a:t>01 / 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784080" y="365760"/>
            <a:ext cx="731520" cy="457200"/>
          </a:xfrm>
          <a:prstGeom prst="line">
            <a:avLst/>
          </a:prstGeom>
          <a:ln w="9525">
            <a:solidFill>
              <a:srgbClr val="24385C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 flipV="1">
            <a:off x="10515600" y="182880"/>
            <a:ext cx="822960" cy="640080"/>
          </a:xfrm>
          <a:prstGeom prst="line">
            <a:avLst/>
          </a:prstGeom>
          <a:ln w="9525">
            <a:solidFill>
              <a:srgbClr val="24385C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 flipH="1">
            <a:off x="11064240" y="182880"/>
            <a:ext cx="274320" cy="1280160"/>
          </a:xfrm>
          <a:prstGeom prst="line">
            <a:avLst/>
          </a:prstGeom>
          <a:ln w="9525">
            <a:solidFill>
              <a:srgbClr val="24385C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 flipH="1">
            <a:off x="10332720" y="1463040"/>
            <a:ext cx="731520" cy="731520"/>
          </a:xfrm>
          <a:prstGeom prst="line">
            <a:avLst/>
          </a:prstGeom>
          <a:ln w="9525">
            <a:solidFill>
              <a:srgbClr val="24385C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10332720" y="2194560"/>
            <a:ext cx="1280160" cy="91440"/>
          </a:xfrm>
          <a:prstGeom prst="line">
            <a:avLst/>
          </a:prstGeom>
          <a:ln w="9525">
            <a:solidFill>
              <a:srgbClr val="24385C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H="1" flipV="1">
            <a:off x="9966960" y="914400"/>
            <a:ext cx="1645920" cy="1371600"/>
          </a:xfrm>
          <a:prstGeom prst="line">
            <a:avLst/>
          </a:prstGeom>
          <a:ln w="9525">
            <a:solidFill>
              <a:srgbClr val="24385C"/>
            </a:solidFill>
          </a:ln>
          <a:effectLst/>
        </p:spPr>
      </p:cxnSp>
      <p:sp>
        <p:nvSpPr>
          <p:cNvPr id="12" name="Rectangle 11"/>
          <p:cNvSpPr/>
          <p:nvPr/>
        </p:nvSpPr>
        <p:spPr>
          <a:xfrm>
            <a:off x="9784080" y="365760"/>
            <a:ext cx="45720" cy="45720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515600" y="822960"/>
            <a:ext cx="45720" cy="45720"/>
          </a:xfrm>
          <a:prstGeom prst="rect">
            <a:avLst/>
          </a:prstGeom>
          <a:solidFill>
            <a:srgbClr val="3A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338560" y="182880"/>
            <a:ext cx="45720" cy="45720"/>
          </a:xfrm>
          <a:prstGeom prst="rect">
            <a:avLst/>
          </a:prstGeom>
          <a:solidFill>
            <a:srgbClr val="3A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064240" y="1463040"/>
            <a:ext cx="45720" cy="45720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32720" y="2194560"/>
            <a:ext cx="45720" cy="45720"/>
          </a:xfrm>
          <a:prstGeom prst="rect">
            <a:avLst/>
          </a:prstGeom>
          <a:solidFill>
            <a:srgbClr val="3A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612880" y="2286000"/>
            <a:ext cx="45720" cy="45720"/>
          </a:xfrm>
          <a:prstGeom prst="rect">
            <a:avLst/>
          </a:prstGeom>
          <a:solidFill>
            <a:srgbClr val="3A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966960" y="914400"/>
            <a:ext cx="45720" cy="45720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8368" y="603504"/>
            <a:ext cx="237744" cy="27432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9264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EE0FF"/>
                </a:solidFill>
                <a:latin typeface="Consolas"/>
                <a:ea typeface="Microsoft YaHei"/>
              </a:rPr>
              <a:t>GEA PFA POULTRY  ·  DIGITAL + AI  · 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1965960"/>
            <a:ext cx="106070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F0F4FA"/>
                </a:solidFill>
                <a:latin typeface="Inter"/>
                <a:ea typeface="Microsoft YaHei"/>
              </a:rPr>
              <a:t>GEA × Digit(AI)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017520"/>
            <a:ext cx="10607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3EE0FF"/>
                </a:solidFill>
                <a:latin typeface="Inter"/>
                <a:ea typeface="Microsoft YaHei"/>
              </a:rPr>
              <a:t>= THE FUTURE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114800"/>
            <a:ext cx="8961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94A3BC"/>
                </a:solidFill>
                <a:latin typeface="Inter"/>
                <a:ea typeface="Microsoft YaHei"/>
              </a:rPr>
              <a:t>The intelligent poultry plant — one operating system from bird to bite.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800600"/>
            <a:ext cx="5074920" cy="475488"/>
          </a:xfrm>
          <a:prstGeom prst="roundRect">
            <a:avLst>
              <a:gd name="adj" fmla="val 50000"/>
            </a:avLst>
          </a:prstGeom>
          <a:solidFill>
            <a:srgbClr val="101A2C"/>
          </a:solidFill>
          <a:ln w="12700">
            <a:solidFill>
              <a:srgbClr val="2A3A5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4800600"/>
            <a:ext cx="50749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0F4FA"/>
                </a:solidFill>
                <a:latin typeface="Inter"/>
                <a:ea typeface="Microsoft YaHei"/>
              </a:rPr>
              <a:t>IN CHINA  ·  FOR CHINA  ·  WITH GLOBAL REACH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07608" y="4800600"/>
            <a:ext cx="47548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B7CFF"/>
                </a:solidFill>
                <a:latin typeface="Consolas"/>
                <a:ea typeface="Microsoft YaHei"/>
              </a:rPr>
              <a:t>AI as the prime example of China → Global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8368" y="5897880"/>
            <a:ext cx="10872216" cy="0"/>
          </a:xfrm>
          <a:prstGeom prst="line">
            <a:avLst/>
          </a:prstGeom>
          <a:ln w="15240">
            <a:solidFill>
              <a:srgbClr val="1E4C66"/>
            </a:solidFill>
          </a:ln>
          <a:effectLst/>
        </p:spPr>
      </p:cxnSp>
      <p:sp>
        <p:nvSpPr>
          <p:cNvPr id="28" name="Rectangle 27"/>
          <p:cNvSpPr/>
          <p:nvPr/>
        </p:nvSpPr>
        <p:spPr>
          <a:xfrm>
            <a:off x="621792" y="5861304"/>
            <a:ext cx="73152" cy="73152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69663" y="5861304"/>
            <a:ext cx="73152" cy="73152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827264" y="5861304"/>
            <a:ext cx="73152" cy="73152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deckkit-motif-quiet"/>
          <p:cNvSpPr/>
          <p:nvPr/>
        </p:nvSpPr>
        <p:spPr>
          <a:xfrm>
            <a:off x="11494008" y="5861304"/>
            <a:ext cx="73152" cy="73152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8C"/>
                </a:solidFill>
                <a:latin typeface="Inter"/>
                <a:ea typeface="Microsoft YaHei"/>
              </a:rPr>
              <a:t>GEA CHINA × Digit(AI)  ·  PFA POULTRY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8C"/>
                </a:solidFill>
                <a:latin typeface="Inter"/>
                <a:ea typeface="Microsoft YaHei"/>
              </a:rPr>
              <a:t>IN CHINA FOR CHINA  ·  CHINA →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C"/>
                </a:solidFill>
                <a:latin typeface="Consolas"/>
                <a:ea typeface="Microsoft YaHei"/>
              </a:rPr>
              <a:t>02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03504"/>
            <a:ext cx="237744" cy="27432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EE0FF"/>
                </a:solidFill>
                <a:latin typeface="Consolas"/>
                <a:ea typeface="Microsoft YaHei"/>
              </a:rPr>
              <a:t>02  ·  THE 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0F4FA"/>
                </a:solidFill>
                <a:latin typeface="Inter"/>
                <a:ea typeface="Microsoft YaHei"/>
              </a:rPr>
              <a:t>Digit(AI) is not digital plus AI.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0881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4A3BC"/>
                </a:solidFill>
                <a:latin typeface="Inter"/>
                <a:ea typeface="Microsoft YaHei"/>
              </a:rPr>
              <a:t>It is the fusion of digital platforms and artificial intelligence into a single intelligent operating layer — for the poultry plant.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468880"/>
            <a:ext cx="3200400" cy="1920240"/>
          </a:xfrm>
          <a:prstGeom prst="roundRect">
            <a:avLst/>
          </a:prstGeom>
          <a:solidFill>
            <a:srgbClr val="0D1423"/>
          </a:solidFill>
          <a:ln w="17780">
            <a:solidFill>
              <a:srgbClr val="2A3A5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2468880"/>
            <a:ext cx="3090672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3EE0FF"/>
                </a:solidFill>
                <a:latin typeface="Inter"/>
                <a:ea typeface="Microsoft YaHei"/>
              </a:rPr>
              <a:t>PHYSICAL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A6472"/>
                </a:solidFill>
                <a:latin typeface="Consolas"/>
                <a:ea typeface="Microsoft YaHei"/>
              </a:rPr>
              <a:t>GEA poultry lines,
kill lines to cut-up,
real plants, real birds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2468880"/>
            <a:ext cx="3200400" cy="1920240"/>
          </a:xfrm>
          <a:prstGeom prst="roundRect">
            <a:avLst/>
          </a:prstGeom>
          <a:solidFill>
            <a:srgbClr val="0D1423"/>
          </a:solidFill>
          <a:ln w="17780">
            <a:solidFill>
              <a:srgbClr val="2A3A5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70831" y="2468880"/>
            <a:ext cx="3090672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3EE0FF"/>
                </a:solidFill>
                <a:latin typeface="Inter"/>
                <a:ea typeface="Microsoft YaHei"/>
              </a:rPr>
              <a:t>DIGIT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A6472"/>
                </a:solidFill>
                <a:latin typeface="Consolas"/>
                <a:ea typeface="Microsoft YaHei"/>
              </a:rPr>
              <a:t>Platforms, data,
edge + cloud,
secure connectivity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5072" y="3200400"/>
            <a:ext cx="685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 dirty="0">
                <a:solidFill>
                  <a:srgbClr val="5A6B8C"/>
                </a:solidFill>
                <a:latin typeface="Inter"/>
                <a:ea typeface="Microsoft YaHei"/>
              </a:rPr>
              <a:t>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2468880"/>
            <a:ext cx="3026664" cy="1920240"/>
          </a:xfrm>
          <a:prstGeom prst="roundRect">
            <a:avLst/>
          </a:prstGeom>
          <a:solidFill>
            <a:srgbClr val="101A2C"/>
          </a:solidFill>
          <a:ln w="17780">
            <a:solidFill>
              <a:srgbClr val="3EE0F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58784" y="2468880"/>
            <a:ext cx="2916936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3EE0FF"/>
                </a:solidFill>
                <a:latin typeface="Inter"/>
                <a:ea typeface="Microsoft YaHei"/>
              </a:rPr>
              <a:t>ONE FUSED
OPERATING LAYER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A6472"/>
                </a:solidFill>
                <a:latin typeface="Consolas"/>
                <a:ea typeface="Microsoft YaHei"/>
              </a:rPr>
              <a:t>for the whole plant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90104" y="3145536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60A16"/>
          </a:solidFill>
          <a:ln w="12700">
            <a:solidFill>
              <a:srgbClr val="8B7CF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36408" y="3148838"/>
            <a:ext cx="6400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dirty="0">
                <a:solidFill>
                  <a:srgbClr val="8B7CFF"/>
                </a:solidFill>
                <a:latin typeface="Inter"/>
                <a:ea typeface="Microsoft YaHei"/>
              </a:rPr>
              <a:t>×AI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029200"/>
            <a:ext cx="10881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4A3BC"/>
                </a:solidFill>
                <a:latin typeface="Inter"/>
                <a:ea typeface="Microsoft YaHei"/>
              </a:rPr>
              <a:t>One fused layer for the whole plant — </a:t>
            </a:r>
            <a:r>
              <a:rPr sz="1500" b="1" i="0">
                <a:solidFill>
                  <a:srgbClr val="F0F4FA"/>
                </a:solidFill>
                <a:latin typeface="Inter"/>
                <a:ea typeface="Microsoft YaHei"/>
              </a:rPr>
              <a:t>not three parallel programs.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8C"/>
                </a:solidFill>
                <a:latin typeface="Inter"/>
                <a:ea typeface="Microsoft YaHei"/>
              </a:rPr>
              <a:t>GEA CHINA × Digit(AI)  ·  PFA POULTRY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8C"/>
                </a:solidFill>
                <a:latin typeface="Inter"/>
                <a:ea typeface="Microsoft YaHei"/>
              </a:rPr>
              <a:t>IN CHINA FOR CHINA  ·  CHINA →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C"/>
                </a:solidFill>
                <a:latin typeface="Consolas"/>
                <a:ea typeface="Microsoft YaHei"/>
              </a:rPr>
              <a:t>03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03504"/>
            <a:ext cx="237744" cy="27432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EE0FF"/>
                </a:solidFill>
                <a:latin typeface="Consolas"/>
                <a:ea typeface="Microsoft YaHei"/>
              </a:rPr>
              <a:t>03  ·  WHY POULTRY, WHY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0F4FA"/>
                </a:solidFill>
                <a:latin typeface="Inter"/>
                <a:ea typeface="Microsoft YaHei"/>
              </a:rPr>
              <a:t>China's poultry market is the perfect proving ground.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0881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4A3BC"/>
                </a:solidFill>
                <a:latin typeface="Inter"/>
                <a:ea typeface="Microsoft YaHei"/>
              </a:rPr>
              <a:t>Scale, speed and scrutiny — the three forces that make AI inevitable.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77440"/>
            <a:ext cx="3291840" cy="731520"/>
          </a:xfrm>
          <a:prstGeom prst="rect">
            <a:avLst/>
          </a:prstGeom>
          <a:noFill/>
          <a:ln/>
        </p:spPr>
        <p:txBody>
          <a:bodyPr wrap="non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0" i="0">
                <a:solidFill>
                  <a:srgbClr val="3EE0FF"/>
                </a:solidFill>
                <a:latin typeface="Consolas"/>
                <a:ea typeface="Microsoft YaHei"/>
              </a:rPr>
              <a:t>26.6 Mt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291840"/>
            <a:ext cx="32918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4A3BC"/>
                </a:solidFill>
                <a:latin typeface="Inter"/>
                <a:ea typeface="Microsoft YaHei"/>
              </a:rPr>
              <a:t>China poultry meat output, 2024 (+3.8% YoY)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2514600"/>
            <a:ext cx="10972" cy="1371600"/>
          </a:xfrm>
          <a:prstGeom prst="rect">
            <a:avLst/>
          </a:prstGeom>
          <a:solidFill>
            <a:srgbClr val="2A3A5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79392" y="2377440"/>
            <a:ext cx="3291840" cy="731520"/>
          </a:xfrm>
          <a:prstGeom prst="rect">
            <a:avLst/>
          </a:prstGeom>
          <a:noFill/>
          <a:ln/>
        </p:spPr>
        <p:txBody>
          <a:bodyPr wrap="non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0" i="0">
                <a:solidFill>
                  <a:srgbClr val="3EE0FF"/>
                </a:solidFill>
                <a:latin typeface="Consolas"/>
                <a:ea typeface="Microsoft YaHei"/>
              </a:rPr>
              <a:t>20B+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3291840"/>
            <a:ext cx="32918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4A3BC"/>
                </a:solidFill>
                <a:latin typeface="Inter"/>
                <a:ea typeface="Microsoft YaHei"/>
              </a:rPr>
              <a:t>Birds processed in China every year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35824" y="2514600"/>
            <a:ext cx="10972" cy="1371600"/>
          </a:xfrm>
          <a:prstGeom prst="rect">
            <a:avLst/>
          </a:prstGeom>
          <a:solidFill>
            <a:srgbClr val="2A3A5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0416" y="2377440"/>
            <a:ext cx="3291840" cy="731520"/>
          </a:xfrm>
          <a:prstGeom prst="rect">
            <a:avLst/>
          </a:prstGeom>
          <a:noFill/>
          <a:ln/>
        </p:spPr>
        <p:txBody>
          <a:bodyPr wrap="non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0" i="0">
                <a:solidFill>
                  <a:srgbClr val="8B7CFF"/>
                </a:solidFill>
                <a:latin typeface="Consolas"/>
                <a:ea typeface="Microsoft YaHei"/>
              </a:rPr>
              <a:t>No.2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0416" y="3291840"/>
            <a:ext cx="32918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4A3BC"/>
                </a:solidFill>
                <a:latin typeface="Inter"/>
                <a:ea typeface="Microsoft YaHei"/>
              </a:rPr>
              <a:t>World poultry producer — and still growing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343400"/>
            <a:ext cx="10881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0F4FA"/>
                </a:solidFill>
                <a:latin typeface="Inter"/>
                <a:ea typeface="Microsoft YaHei"/>
              </a:rPr>
              <a:t>Labor scarcity. Food-safety scrutiny. Margin pressure per gram of yield.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983480"/>
            <a:ext cx="10881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8B7CFF"/>
                </a:solidFill>
                <a:latin typeface="Inter"/>
                <a:ea typeface="Microsoft YaHei"/>
              </a:rPr>
              <a:t>China is the proving ground. Poultry AI is the prime example of China → Global.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8C"/>
                </a:solidFill>
                <a:latin typeface="Inter"/>
                <a:ea typeface="Microsoft YaHei"/>
              </a:rPr>
              <a:t>GEA CHINA × Digit(AI)  ·  PFA POULTRY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8C"/>
                </a:solidFill>
                <a:latin typeface="Inter"/>
                <a:ea typeface="Microsoft YaHei"/>
              </a:rPr>
              <a:t>IN CHINA FOR CHINA  ·  CHINA →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C"/>
                </a:solidFill>
                <a:latin typeface="Consolas"/>
                <a:ea typeface="Microsoft YaHei"/>
              </a:rPr>
              <a:t>04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03504"/>
            <a:ext cx="237744" cy="27432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EE0FF"/>
                </a:solidFill>
                <a:latin typeface="Consolas"/>
                <a:ea typeface="Microsoft YaHei"/>
              </a:rPr>
              <a:t>04  ·  THE SUNNER STORY · BUILT WITH GEA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0F4FA"/>
                </a:solidFill>
                <a:latin typeface="Inter"/>
                <a:ea typeface="Microsoft YaHei"/>
              </a:rPr>
              <a:t>Sunner 圣农: a success story GEA China helped write.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0881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4A3BC"/>
                </a:solidFill>
                <a:latin typeface="Inter"/>
                <a:ea typeface="Microsoft YaHei"/>
              </a:rPr>
              <a:t>GEA processing technology has run inside Sunner's rise — full-chain integration is the ideal foundation for what comes next.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86000"/>
            <a:ext cx="2670048" cy="2103120"/>
          </a:xfrm>
          <a:prstGeom prst="roundRect">
            <a:avLst>
              <a:gd name="adj" fmla="val 2608"/>
            </a:avLst>
          </a:prstGeom>
          <a:solidFill>
            <a:srgbClr val="0D1423"/>
          </a:solidFill>
          <a:ln w="12700">
            <a:solidFill>
              <a:srgbClr val="2A3A5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59" y="2450592"/>
            <a:ext cx="256032" cy="32004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2340864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3EE0FF"/>
                </a:solidFill>
                <a:latin typeface="Consolas"/>
                <a:ea typeface="Microsoft YaHei"/>
              </a:rPr>
              <a:t>¥20.1B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611880"/>
            <a:ext cx="234086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C"/>
                </a:solidFill>
                <a:latin typeface="Inter"/>
                <a:ea typeface="Microsoft YaHei"/>
              </a:rPr>
              <a:t>Revenue 2025 (+8.1%)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C"/>
                </a:solidFill>
                <a:latin typeface="Inter"/>
                <a:ea typeface="Microsoft YaHei"/>
              </a:rPr>
              <a:t>Net profit +90.6% YoY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2286000"/>
            <a:ext cx="2670048" cy="2103120"/>
          </a:xfrm>
          <a:prstGeom prst="roundRect">
            <a:avLst>
              <a:gd name="adj" fmla="val 2608"/>
            </a:avLst>
          </a:prstGeom>
          <a:solidFill>
            <a:srgbClr val="0D1423"/>
          </a:solidFill>
          <a:ln w="12700">
            <a:solidFill>
              <a:srgbClr val="2A3A5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39312" y="2450592"/>
            <a:ext cx="256032" cy="32004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39312" y="2697480"/>
            <a:ext cx="2340864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3EE0FF"/>
                </a:solidFill>
                <a:latin typeface="Consolas"/>
                <a:ea typeface="Microsoft YaHei"/>
              </a:rPr>
              <a:t>800M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3611880"/>
            <a:ext cx="234086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C"/>
                </a:solidFill>
                <a:latin typeface="Inter"/>
                <a:ea typeface="Microsoft YaHei"/>
              </a:rPr>
              <a:t>White-feather broilers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C"/>
                </a:solidFill>
                <a:latin typeface="Inter"/>
                <a:ea typeface="Microsoft YaHei"/>
              </a:rPr>
              <a:t>capacity per year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2286000"/>
            <a:ext cx="2670048" cy="2103120"/>
          </a:xfrm>
          <a:prstGeom prst="roundRect">
            <a:avLst>
              <a:gd name="adj" fmla="val 2608"/>
            </a:avLst>
          </a:prstGeom>
          <a:solidFill>
            <a:srgbClr val="0D1423"/>
          </a:solidFill>
          <a:ln w="12700">
            <a:solidFill>
              <a:srgbClr val="2A3A5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55664" y="2450592"/>
            <a:ext cx="256032" cy="32004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55664" y="2697480"/>
            <a:ext cx="2340864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8B7CFF"/>
                </a:solidFill>
                <a:latin typeface="Consolas"/>
                <a:ea typeface="Microsoft YaHei"/>
              </a:rPr>
              <a:t>No.1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611880"/>
            <a:ext cx="234086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C"/>
                </a:solidFill>
                <a:latin typeface="Inter"/>
                <a:ea typeface="Microsoft YaHei"/>
              </a:rPr>
              <a:t>Asia's largest full-chain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C"/>
                </a:solidFill>
                <a:latin typeface="Inter"/>
                <a:ea typeface="Microsoft YaHei"/>
              </a:rPr>
              <a:t>player — world No.6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07424" y="2286000"/>
            <a:ext cx="2670048" cy="2103120"/>
          </a:xfrm>
          <a:prstGeom prst="roundRect">
            <a:avLst>
              <a:gd name="adj" fmla="val 2608"/>
            </a:avLst>
          </a:prstGeom>
          <a:solidFill>
            <a:srgbClr val="0D1423"/>
          </a:solidFill>
          <a:ln w="12700">
            <a:solidFill>
              <a:srgbClr val="2A3A5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72016" y="2450592"/>
            <a:ext cx="256032" cy="32004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72016" y="2697480"/>
            <a:ext cx="2340864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8B7CFF"/>
                </a:solidFill>
                <a:latin typeface="Consolas"/>
                <a:ea typeface="Microsoft YaHei"/>
              </a:rPr>
              <a:t>圣泽901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2016" y="3611880"/>
            <a:ext cx="234086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C"/>
                </a:solidFill>
                <a:latin typeface="Inter"/>
                <a:ea typeface="Microsoft YaHei"/>
              </a:rPr>
              <a:t>Self-bred genetics: broke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C"/>
                </a:solidFill>
                <a:latin typeface="Inter"/>
                <a:ea typeface="Microsoft YaHei"/>
              </a:rPr>
              <a:t>100 yrs of foreign monopoly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41264"/>
            <a:ext cx="10872216" cy="722376"/>
          </a:xfrm>
          <a:prstGeom prst="roundRect">
            <a:avLst>
              <a:gd name="adj" fmla="val 8000"/>
            </a:avLst>
          </a:prstGeom>
          <a:solidFill>
            <a:srgbClr val="0D142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8368" y="5599054"/>
            <a:ext cx="64008" cy="606795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7824" y="5541264"/>
            <a:ext cx="10469880" cy="72237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E0FF"/>
                </a:solidFill>
                <a:latin typeface="Inter"/>
                <a:ea typeface="Microsoft YaHei"/>
              </a:rPr>
              <a:t>  </a:t>
            </a:r>
            <a:r>
              <a:rPr sz="1250" b="0" i="0">
                <a:solidFill>
                  <a:srgbClr val="F0F4FA"/>
                </a:solidFill>
                <a:latin typeface="Inter"/>
                <a:ea typeface="Microsoft YaHei"/>
              </a:rPr>
              <a:t>For years, GEA China's lines and technology have powered Sunner's chain. Every GEA stage is already the data foundation Digit(AI) needs.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8C"/>
                </a:solidFill>
                <a:latin typeface="Inter"/>
                <a:ea typeface="Microsoft YaHei"/>
              </a:rPr>
              <a:t>GEA CHINA × Digit(AI)  ·  PFA POULTRY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8C"/>
                </a:solidFill>
                <a:latin typeface="Inter"/>
                <a:ea typeface="Microsoft YaHei"/>
              </a:rPr>
              <a:t>IN CHINA FOR CHINA  ·  CHINA →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C"/>
                </a:solidFill>
                <a:latin typeface="Consolas"/>
                <a:ea typeface="Microsoft YaHei"/>
              </a:rPr>
              <a:t>05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03504"/>
            <a:ext cx="237744" cy="27432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EE0FF"/>
                </a:solidFill>
                <a:latin typeface="Consolas"/>
                <a:ea typeface="Microsoft YaHei"/>
              </a:rPr>
              <a:t>05  ·  THE CONNECTED BIRD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0F4FA"/>
                </a:solidFill>
                <a:latin typeface="Inter"/>
                <a:ea typeface="Microsoft YaHei"/>
              </a:rPr>
              <a:t>One bird. One data thread. Eight stages.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0881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4A3BC"/>
                </a:solidFill>
                <a:latin typeface="Inter"/>
                <a:ea typeface="Microsoft YaHei"/>
              </a:rPr>
              <a:t>From live receiving to packaging — every step sensed, connected, and optimizable.</a:t>
            </a:r>
          </a:p>
        </p:txBody>
      </p:sp>
      <p:cxnSp>
        <p:nvCxnSpPr>
          <p:cNvPr id="10" name="deckkit-motif-loud"/>
          <p:cNvCxnSpPr/>
          <p:nvPr/>
        </p:nvCxnSpPr>
        <p:spPr>
          <a:xfrm>
            <a:off x="3707891" y="3703320"/>
            <a:ext cx="4773169" cy="0"/>
          </a:xfrm>
          <a:prstGeom prst="line">
            <a:avLst/>
          </a:prstGeom>
          <a:ln w="25400">
            <a:solidFill>
              <a:srgbClr val="3EE0FF"/>
            </a:solidFill>
          </a:ln>
          <a:effectLst/>
        </p:spPr>
      </p:cxnSp>
      <p:sp>
        <p:nvSpPr>
          <p:cNvPr id="11" name="Rectangle 10"/>
          <p:cNvSpPr/>
          <p:nvPr/>
        </p:nvSpPr>
        <p:spPr>
          <a:xfrm>
            <a:off x="3643884" y="3639312"/>
            <a:ext cx="128016" cy="128016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49524" y="3904487"/>
            <a:ext cx="13167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EE0FF"/>
                </a:solidFill>
                <a:latin typeface="Consolas"/>
                <a:ea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9524" y="4178808"/>
            <a:ext cx="131673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0F4FA"/>
                </a:solidFill>
                <a:latin typeface="Inter"/>
                <a:ea typeface="Microsoft YaHei"/>
              </a:rPr>
              <a:t>LIVE RECEIVING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9524" y="4544568"/>
            <a:ext cx="131673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C"/>
                </a:solidFill>
                <a:latin typeface="Inter"/>
                <a:ea typeface="Microsoft YaHei"/>
              </a:rPr>
              <a:t>Weight &amp; welfare data at intake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765" y="3639312"/>
            <a:ext cx="128016" cy="128016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31405" y="3319272"/>
            <a:ext cx="13167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EE0FF"/>
                </a:solidFill>
                <a:latin typeface="Consolas"/>
                <a:ea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1405" y="2953512"/>
            <a:ext cx="131673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0F4FA"/>
                </a:solidFill>
                <a:latin typeface="Inter"/>
                <a:ea typeface="Microsoft YaHei"/>
              </a:rPr>
              <a:t>STUNNING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1405" y="2286000"/>
            <a:ext cx="131673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C"/>
                </a:solidFill>
                <a:latin typeface="Inter"/>
                <a:ea typeface="Microsoft YaHei"/>
              </a:rPr>
              <a:t>Precise, humane, monitored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7646" y="3639312"/>
            <a:ext cx="128016" cy="128016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13286" y="3904487"/>
            <a:ext cx="13167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EE0FF"/>
                </a:solidFill>
                <a:latin typeface="Consolas"/>
                <a:ea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3286" y="4178808"/>
            <a:ext cx="131673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0F4FA"/>
                </a:solidFill>
                <a:latin typeface="Inter"/>
                <a:ea typeface="Microsoft YaHei"/>
              </a:rPr>
              <a:t>SCALD &amp; PLUCK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3286" y="4544568"/>
            <a:ext cx="131673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C"/>
                </a:solidFill>
                <a:latin typeface="Inter"/>
                <a:ea typeface="Microsoft YaHei"/>
              </a:rPr>
              <a:t>Temperature &amp; dwell control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89527" y="3639312"/>
            <a:ext cx="128016" cy="128016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95167" y="3319272"/>
            <a:ext cx="13167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B7CFF"/>
                </a:solidFill>
                <a:latin typeface="Consolas"/>
                <a:ea typeface="Microsoft YaHei"/>
              </a:rPr>
              <a:t>04 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5167" y="2953512"/>
            <a:ext cx="131673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0F4FA"/>
                </a:solidFill>
                <a:latin typeface="Inter"/>
                <a:ea typeface="Microsoft YaHei"/>
              </a:rPr>
              <a:t>EVISCERATION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95167" y="2286000"/>
            <a:ext cx="131673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C"/>
                </a:solidFill>
                <a:latin typeface="Inter"/>
                <a:ea typeface="Microsoft YaHei"/>
              </a:rPr>
              <a:t>Vision-guided inspection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71408" y="3639312"/>
            <a:ext cx="128016" cy="128016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77048" y="3904487"/>
            <a:ext cx="13167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B7CFF"/>
                </a:solidFill>
                <a:latin typeface="Consolas"/>
                <a:ea typeface="Microsoft YaHei"/>
              </a:rPr>
              <a:t>05 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77048" y="4178808"/>
            <a:ext cx="131673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0F4FA"/>
                </a:solidFill>
                <a:latin typeface="Inter"/>
                <a:ea typeface="Microsoft YaHei"/>
              </a:rPr>
              <a:t>CHILLING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77048" y="4544568"/>
            <a:ext cx="131673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C"/>
                </a:solidFill>
                <a:latin typeface="Inter"/>
                <a:ea typeface="Microsoft YaHei"/>
              </a:rPr>
              <a:t>Autonomous setpoints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53289" y="3639312"/>
            <a:ext cx="128016" cy="128016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58929" y="3319272"/>
            <a:ext cx="13167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B7CFF"/>
                </a:solidFill>
                <a:latin typeface="Consolas"/>
                <a:ea typeface="Microsoft YaHei"/>
              </a:rPr>
              <a:t>06 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8929" y="2953512"/>
            <a:ext cx="131673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0F4FA"/>
                </a:solidFill>
                <a:latin typeface="Inter"/>
                <a:ea typeface="Microsoft YaHei"/>
              </a:rPr>
              <a:t>CUT-UP &amp; DEBONE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8929" y="2286000"/>
            <a:ext cx="131673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C"/>
                </a:solidFill>
                <a:latin typeface="Inter"/>
                <a:ea typeface="Microsoft YaHei"/>
              </a:rPr>
              <a:t>Yield-optimized cutting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35170" y="3639312"/>
            <a:ext cx="128016" cy="128016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140810" y="3904487"/>
            <a:ext cx="13167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EE0FF"/>
                </a:solidFill>
                <a:latin typeface="Consolas"/>
                <a:ea typeface="Microsoft YaHei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40810" y="4178808"/>
            <a:ext cx="131673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0F4FA"/>
                </a:solidFill>
                <a:latin typeface="Inter"/>
                <a:ea typeface="Microsoft YaHei"/>
              </a:rPr>
              <a:t>FURTHER PROCESSING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40810" y="4544568"/>
            <a:ext cx="131673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C"/>
                </a:solidFill>
                <a:latin typeface="Inter"/>
                <a:ea typeface="Microsoft YaHei"/>
              </a:rPr>
              <a:t>Recipe &amp; quality control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7052" y="3639312"/>
            <a:ext cx="128016" cy="128016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22692" y="3319272"/>
            <a:ext cx="13167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EE0FF"/>
                </a:solidFill>
                <a:latin typeface="Consolas"/>
                <a:ea typeface="Microsoft YaHei"/>
              </a:rP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22692" y="2953512"/>
            <a:ext cx="131673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0F4FA"/>
                </a:solidFill>
                <a:latin typeface="Inter"/>
                <a:ea typeface="Microsoft YaHei"/>
              </a:rPr>
              <a:t>PACKAGING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22692" y="2286000"/>
            <a:ext cx="131673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C"/>
                </a:solidFill>
                <a:latin typeface="Inter"/>
                <a:ea typeface="Microsoft YaHei"/>
              </a:rPr>
              <a:t>Traceability to the bite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349240"/>
            <a:ext cx="10872216" cy="548640"/>
          </a:xfrm>
          <a:prstGeom prst="roundRect">
            <a:avLst>
              <a:gd name="adj" fmla="val 10000"/>
            </a:avLst>
          </a:prstGeom>
          <a:solidFill>
            <a:srgbClr val="101426"/>
          </a:solidFill>
          <a:ln w="12700">
            <a:solidFill>
              <a:srgbClr val="8B7CF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8680" y="5349240"/>
            <a:ext cx="104241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8B7CFF"/>
                </a:solidFill>
                <a:latin typeface="Inter"/>
                <a:ea typeface="Microsoft YaHei"/>
              </a:rPr>
              <a:t>AI OVERLAY   </a:t>
            </a:r>
            <a:r>
              <a:rPr sz="1200" b="0" i="0">
                <a:solidFill>
                  <a:srgbClr val="94A3BC"/>
                </a:solidFill>
                <a:latin typeface="Inter"/>
                <a:ea typeface="Microsoft YaHei"/>
              </a:rPr>
              <a:t>Vision grading on the kill line  ·  sensor fusion at every stage  ·  autonomous setpoints  ·  traceability to the bite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8C"/>
                </a:solidFill>
                <a:latin typeface="Inter"/>
                <a:ea typeface="Microsoft YaHei"/>
              </a:rPr>
              <a:t>GEA CHINA × Digit(AI)  ·  PFA POULTRY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8C"/>
                </a:solidFill>
                <a:latin typeface="Inter"/>
                <a:ea typeface="Microsoft YaHei"/>
              </a:rPr>
              <a:t>IN CHINA FOR CHINA  ·  CHINA →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C"/>
                </a:solidFill>
                <a:latin typeface="Consolas"/>
                <a:ea typeface="Microsoft YaHei"/>
              </a:rPr>
              <a:t>06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03504"/>
            <a:ext cx="237744" cy="27432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EE0FF"/>
                </a:solidFill>
                <a:latin typeface="Consolas"/>
                <a:ea typeface="Microsoft YaHei"/>
              </a:rPr>
              <a:t>06  ·  THE Digit(AI)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0F4FA"/>
                </a:solidFill>
                <a:latin typeface="Inter"/>
                <a:ea typeface="Microsoft YaHei"/>
              </a:rPr>
              <a:t>From bird to algorithm — China-ready by design.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0881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4A3BC"/>
                </a:solidFill>
                <a:latin typeface="Inter"/>
                <a:ea typeface="Microsoft YaHei"/>
              </a:rPr>
              <a:t>Four layers, one intelligent operating system for the poultry plant.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0872216" cy="841248"/>
          </a:xfrm>
          <a:prstGeom prst="roundRect">
            <a:avLst>
              <a:gd name="adj" fmla="val 6521"/>
            </a:avLst>
          </a:prstGeom>
          <a:solidFill>
            <a:srgbClr val="0D1423"/>
          </a:solidFill>
          <a:ln w="12700">
            <a:solidFill>
              <a:srgbClr val="2A3A5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2386584"/>
            <a:ext cx="45720" cy="548640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350008"/>
            <a:ext cx="4114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EE0FF"/>
                </a:solidFill>
                <a:latin typeface="Inter"/>
                <a:ea typeface="Microsoft YaHei"/>
              </a:rPr>
              <a:t>EDGE &amp; IIoT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697480"/>
            <a:ext cx="102412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C"/>
                </a:solidFill>
                <a:latin typeface="Inter"/>
                <a:ea typeface="Microsoft YaHei"/>
              </a:rPr>
              <a:t>Line-side vision &amp; sensors  ·  secure remote access  ·  gateways  ·  China-compliant OT paths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227832"/>
            <a:ext cx="10872216" cy="841248"/>
          </a:xfrm>
          <a:prstGeom prst="roundRect">
            <a:avLst>
              <a:gd name="adj" fmla="val 6521"/>
            </a:avLst>
          </a:prstGeom>
          <a:solidFill>
            <a:srgbClr val="0D1423"/>
          </a:solidFill>
          <a:ln w="12700">
            <a:solidFill>
              <a:srgbClr val="2A3A5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3374136"/>
            <a:ext cx="45720" cy="548640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337560"/>
            <a:ext cx="4114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EE0FF"/>
                </a:solidFill>
                <a:latin typeface="Inter"/>
                <a:ea typeface="Microsoft YaHei"/>
              </a:rPr>
              <a:t>DATA &amp; CLOUD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685032"/>
            <a:ext cx="102412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C"/>
                </a:solidFill>
                <a:latin typeface="Inter"/>
                <a:ea typeface="Microsoft YaHei"/>
              </a:rPr>
              <a:t>Plant data fabric  ·  Azure China / multi-cloud  ·  digital twins  ·  data residency &amp; PIPL alignment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215384"/>
            <a:ext cx="10872216" cy="841248"/>
          </a:xfrm>
          <a:prstGeom prst="roundRect">
            <a:avLst>
              <a:gd name="adj" fmla="val 6521"/>
            </a:avLst>
          </a:prstGeom>
          <a:solidFill>
            <a:srgbClr val="0D1423"/>
          </a:solidFill>
          <a:ln w="12700">
            <a:solidFill>
              <a:srgbClr val="2A3A5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4361688"/>
            <a:ext cx="45720" cy="548640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4325112"/>
            <a:ext cx="4114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8B7CFF"/>
                </a:solidFill>
                <a:latin typeface="Inter"/>
                <a:ea typeface="Microsoft YaHei"/>
              </a:rPr>
              <a:t>AI &amp; AGENTS  ★  PRIME 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672584"/>
            <a:ext cx="102412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C"/>
                </a:solidFill>
                <a:latin typeface="Inter"/>
                <a:ea typeface="Microsoft YaHei"/>
              </a:rPr>
              <a:t>Carcass grading  ·  yield optimization  ·  food-safety early warning  ·  agents on Azure AI Foundry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202936"/>
            <a:ext cx="10872216" cy="841248"/>
          </a:xfrm>
          <a:prstGeom prst="roundRect">
            <a:avLst>
              <a:gd name="adj" fmla="val 6521"/>
            </a:avLst>
          </a:prstGeom>
          <a:solidFill>
            <a:srgbClr val="0D1423"/>
          </a:solidFill>
          <a:ln w="12700">
            <a:solidFill>
              <a:srgbClr val="2A3A5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" y="5349240"/>
            <a:ext cx="45720" cy="548640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" y="5312664"/>
            <a:ext cx="4114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EE0FF"/>
                </a:solidFill>
                <a:latin typeface="Inter"/>
                <a:ea typeface="Microsoft YaHei"/>
              </a:rPr>
              <a:t>HUMAN + MACHINE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660136"/>
            <a:ext cx="102412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C"/>
                </a:solidFill>
                <a:latin typeface="Inter"/>
                <a:ea typeface="Microsoft YaHei"/>
              </a:rPr>
              <a:t>Augmented operators  ·  line-side decision support  ·  Chinese-language interfaces  ·  local process fluency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8C"/>
                </a:solidFill>
                <a:latin typeface="Inter"/>
                <a:ea typeface="Microsoft YaHei"/>
              </a:rPr>
              <a:t>GEA CHINA × Digit(AI)  ·  PFA POULTRY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8C"/>
                </a:solidFill>
                <a:latin typeface="Inter"/>
                <a:ea typeface="Microsoft YaHei"/>
              </a:rPr>
              <a:t>IN CHINA FOR CHINA  ·  CHINA →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C"/>
                </a:solidFill>
                <a:latin typeface="Consolas"/>
                <a:ea typeface="Microsoft YaHei"/>
              </a:rPr>
              <a:t>07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03504"/>
            <a:ext cx="237744" cy="27432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EE0FF"/>
                </a:solidFill>
                <a:latin typeface="Consolas"/>
                <a:ea typeface="Microsoft YaHei"/>
              </a:rPr>
              <a:t>07  ·  THE INTELLIGENCE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0F4FA"/>
                </a:solidFill>
                <a:latin typeface="Inter"/>
                <a:ea typeface="Microsoft YaHei"/>
              </a:rPr>
              <a:t>Powered by what the enterprise already runs.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0881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4A3BC"/>
                </a:solidFill>
                <a:latin typeface="Inter"/>
                <a:ea typeface="Microsoft YaHei"/>
              </a:rPr>
              <a:t>SAP data + industrial ontology + Azure AI Foundry — one integrated engine behind every Digit(AI) use case.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41648" y="3337560"/>
            <a:ext cx="356616" cy="0"/>
          </a:xfrm>
          <a:prstGeom prst="line">
            <a:avLst/>
          </a:prstGeom>
          <a:ln w="19050">
            <a:solidFill>
              <a:srgbClr val="3EE0FF"/>
            </a:solidFill>
            <a:tailEnd type="triangle" w="med" len="med"/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7781544" y="3337560"/>
            <a:ext cx="356616" cy="0"/>
          </a:xfrm>
          <a:prstGeom prst="line">
            <a:avLst/>
          </a:prstGeom>
          <a:ln w="19050">
            <a:solidFill>
              <a:srgbClr val="3EE0FF"/>
            </a:solidFill>
            <a:tailEnd type="triangle" w="med" len="med"/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9834372" y="4297680"/>
            <a:ext cx="0" cy="502920"/>
          </a:xfrm>
          <a:prstGeom prst="line">
            <a:avLst/>
          </a:prstGeom>
          <a:ln w="19050">
            <a:solidFill>
              <a:srgbClr val="8B7CFF"/>
            </a:solidFill>
            <a:prstDash val="sysDot"/>
          </a:ln>
          <a:effectLst/>
        </p:spPr>
      </p:cxnSp>
      <p:cxnSp>
        <p:nvCxnSpPr>
          <p:cNvPr id="13" name="Connector 12"/>
          <p:cNvCxnSpPr/>
          <p:nvPr/>
        </p:nvCxnSpPr>
        <p:spPr>
          <a:xfrm flipH="1">
            <a:off x="2350008" y="4800600"/>
            <a:ext cx="7484364" cy="0"/>
          </a:xfrm>
          <a:prstGeom prst="line">
            <a:avLst/>
          </a:prstGeom>
          <a:ln w="19050">
            <a:solidFill>
              <a:srgbClr val="8B7CFF"/>
            </a:solidFill>
            <a:prstDash val="sysDot"/>
          </a:ln>
          <a:effectLst/>
        </p:spPr>
      </p:cxnSp>
      <p:cxnSp>
        <p:nvCxnSpPr>
          <p:cNvPr id="14" name="Connector 13"/>
          <p:cNvCxnSpPr/>
          <p:nvPr/>
        </p:nvCxnSpPr>
        <p:spPr>
          <a:xfrm flipV="1">
            <a:off x="2350008" y="4297680"/>
            <a:ext cx="0" cy="502920"/>
          </a:xfrm>
          <a:prstGeom prst="line">
            <a:avLst/>
          </a:prstGeom>
          <a:ln w="19050">
            <a:solidFill>
              <a:srgbClr val="8B7CFF"/>
            </a:solidFill>
            <a:prstDash val="sysDot"/>
            <a:tailEnd type="triangle" w="med" len="med"/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2926080" y="4498848"/>
            <a:ext cx="6309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8B7CFF"/>
                </a:solidFill>
                <a:latin typeface="Inter"/>
                <a:ea typeface="Microsoft YaHei"/>
              </a:rPr>
              <a:t>every decision lands back in the lines and the ERP — one connected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377440"/>
            <a:ext cx="3383280" cy="1920240"/>
          </a:xfrm>
          <a:prstGeom prst="roundRect">
            <a:avLst/>
          </a:prstGeom>
          <a:solidFill>
            <a:srgbClr val="0D1423"/>
          </a:solidFill>
          <a:ln w="17780">
            <a:solidFill>
              <a:srgbClr val="2A3A5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2377440"/>
            <a:ext cx="3273552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3EE0FF"/>
                </a:solidFill>
                <a:latin typeface="Inter"/>
                <a:ea typeface="Microsoft YaHei"/>
              </a:rPr>
              <a:t>SAP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A6472"/>
                </a:solidFill>
                <a:latin typeface="Consolas"/>
                <a:ea typeface="Microsoft YaHei"/>
              </a:rPr>
              <a:t>BUSINESS BACKBONE
S/4HANA: orders, batches, costs,
supply chain — the system of record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8264" y="2377440"/>
            <a:ext cx="3383280" cy="1920240"/>
          </a:xfrm>
          <a:prstGeom prst="roundRect">
            <a:avLst/>
          </a:prstGeom>
          <a:solidFill>
            <a:srgbClr val="0D1423"/>
          </a:solidFill>
          <a:ln w="17780">
            <a:solidFill>
              <a:srgbClr val="2A3A5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53127" y="2377440"/>
            <a:ext cx="3273552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3EE0FF"/>
                </a:solidFill>
                <a:latin typeface="Inter"/>
                <a:ea typeface="Microsoft YaHei"/>
              </a:rPr>
              <a:t>ONTOLOGY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A6472"/>
                </a:solidFill>
                <a:latin typeface="Consolas"/>
                <a:ea typeface="Microsoft YaHei"/>
              </a:rPr>
              <a:t>SEMANTIC LAYER
One shared language for assets,
process steps, flocks and lots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377440"/>
            <a:ext cx="3392424" cy="1920240"/>
          </a:xfrm>
          <a:prstGeom prst="roundRect">
            <a:avLst/>
          </a:prstGeom>
          <a:solidFill>
            <a:srgbClr val="101426"/>
          </a:solidFill>
          <a:ln w="17780">
            <a:solidFill>
              <a:srgbClr val="8B7CF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93024" y="2377440"/>
            <a:ext cx="3282696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8B7CFF"/>
                </a:solidFill>
                <a:latin typeface="Inter"/>
                <a:ea typeface="Microsoft YaHei"/>
              </a:rPr>
              <a:t>AI FOUNDRY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A6472"/>
                </a:solidFill>
                <a:latin typeface="Consolas"/>
                <a:ea typeface="Microsoft YaHei"/>
              </a:rPr>
              <a:t>MODEL &amp; AGENT FACTORY
Azure AI Foundry on Azure China:
build, deploy, govern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8C"/>
                </a:solidFill>
                <a:latin typeface="Inter"/>
                <a:ea typeface="Microsoft YaHei"/>
              </a:rPr>
              <a:t>GEA CHINA × Digit(AI)  ·  PFA POULTRY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8C"/>
                </a:solidFill>
                <a:latin typeface="Inter"/>
                <a:ea typeface="Microsoft YaHei"/>
              </a:rPr>
              <a:t>IN CHINA FOR CHINA  ·  CHINA →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C"/>
                </a:solidFill>
                <a:latin typeface="Consolas"/>
                <a:ea typeface="Microsoft YaHei"/>
              </a:rPr>
              <a:t>08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03504"/>
            <a:ext cx="237744" cy="27432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EE0FF"/>
                </a:solidFill>
                <a:latin typeface="Consolas"/>
                <a:ea typeface="Microsoft YaHei"/>
              </a:rPr>
              <a:t>08  ·  ACT II · DIGIT(AI) × SUNNER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0F4FA"/>
                </a:solidFill>
                <a:latin typeface="Inter"/>
                <a:ea typeface="Microsoft YaHei"/>
              </a:rPr>
              <a:t>How GEA Digit(AI) can take Sunner to another level.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0881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4A3BC"/>
                </a:solidFill>
                <a:latin typeface="Inter"/>
                <a:ea typeface="Microsoft YaHei"/>
              </a:rPr>
              <a:t>Same plants, same GEA lines — new intelligence on top: six AI superpowers ready to deploy on the Sunner chain.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148840"/>
            <a:ext cx="3474720" cy="1691640"/>
          </a:xfrm>
          <a:prstGeom prst="roundRect">
            <a:avLst>
              <a:gd name="adj" fmla="val 3243"/>
            </a:avLst>
          </a:prstGeom>
          <a:solidFill>
            <a:srgbClr val="0D1423"/>
          </a:solidFill>
          <a:ln w="12700">
            <a:solidFill>
              <a:srgbClr val="2A3A5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59" y="2313432"/>
            <a:ext cx="256032" cy="32004"/>
          </a:xfrm>
          <a:prstGeom prst="rect">
            <a:avLst/>
          </a:prstGeom>
          <a:solidFill>
            <a:srgbClr val="FFC2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 i="0">
                <a:solidFill>
                  <a:srgbClr val="FFC24D"/>
                </a:solidFill>
                <a:latin typeface="Consolas"/>
                <a:ea typeface="Microsoft YaHei"/>
              </a:rPr>
              <a:t>+1–2%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2459736"/>
            <a:ext cx="1371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B7CFF"/>
                </a:solidFill>
                <a:latin typeface="Consolas"/>
                <a:ea typeface="Microsoft YaHei"/>
              </a:rPr>
              <a:t>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807208"/>
            <a:ext cx="31455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0F4FA"/>
                </a:solidFill>
                <a:latin typeface="Inter"/>
                <a:ea typeface="Microsoft YaHei"/>
              </a:rPr>
              <a:t>Meat yield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136392"/>
            <a:ext cx="314553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4A3BC"/>
                </a:solidFill>
                <a:latin typeface="Inter"/>
                <a:ea typeface="Microsoft YaHei"/>
              </a:rPr>
              <a:t>Vision carcass grading + yield-optimized cut-up: more grams sold per bird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2148840"/>
            <a:ext cx="3474720" cy="1691640"/>
          </a:xfrm>
          <a:prstGeom prst="roundRect">
            <a:avLst>
              <a:gd name="adj" fmla="val 3243"/>
            </a:avLst>
          </a:prstGeom>
          <a:solidFill>
            <a:srgbClr val="0D1423"/>
          </a:solidFill>
          <a:ln w="12700">
            <a:solidFill>
              <a:srgbClr val="2A3A5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26279" y="2313432"/>
            <a:ext cx="256032" cy="32004"/>
          </a:xfrm>
          <a:prstGeom prst="rect">
            <a:avLst/>
          </a:prstGeom>
          <a:solidFill>
            <a:srgbClr val="FFC2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26279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 i="0">
                <a:solidFill>
                  <a:srgbClr val="FFC24D"/>
                </a:solidFill>
                <a:latin typeface="Consolas"/>
                <a:ea typeface="Microsoft YaHei"/>
              </a:rPr>
              <a:t>−15%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8" y="2459736"/>
            <a:ext cx="1371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B7CFF"/>
                </a:solidFill>
                <a:latin typeface="Consolas"/>
                <a:ea typeface="Microsoft YaHei"/>
              </a:rPr>
              <a:t>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2807208"/>
            <a:ext cx="31455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0F4FA"/>
                </a:solidFill>
                <a:latin typeface="Inter"/>
                <a:ea typeface="Microsoft YaHei"/>
              </a:rPr>
              <a:t>Energy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79" y="3136392"/>
            <a:ext cx="314553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4A3BC"/>
                </a:solidFill>
                <a:latin typeface="Inter"/>
                <a:ea typeface="Microsoft YaHei"/>
              </a:rPr>
              <a:t>Autonomous chilling &amp; scalding setpoints, tuned live to load and ambient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8" y="2148840"/>
            <a:ext cx="3474720" cy="1691640"/>
          </a:xfrm>
          <a:prstGeom prst="roundRect">
            <a:avLst>
              <a:gd name="adj" fmla="val 3243"/>
            </a:avLst>
          </a:prstGeom>
          <a:solidFill>
            <a:srgbClr val="0D1423"/>
          </a:solidFill>
          <a:ln w="12700">
            <a:solidFill>
              <a:srgbClr val="2A3A5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0" y="2313432"/>
            <a:ext cx="256032" cy="32004"/>
          </a:xfrm>
          <a:prstGeom prst="rect">
            <a:avLst/>
          </a:prstGeom>
          <a:solidFill>
            <a:srgbClr val="FFC2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 i="0">
                <a:solidFill>
                  <a:srgbClr val="FFC24D"/>
                </a:solidFill>
                <a:latin typeface="Consolas"/>
                <a:ea typeface="Microsoft YaHei"/>
              </a:rPr>
              <a:t>99%+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2368" y="2459736"/>
            <a:ext cx="1371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B7CFF"/>
                </a:solidFill>
                <a:latin typeface="Consolas"/>
                <a:ea typeface="Microsoft YaHei"/>
              </a:rPr>
              <a:t>target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807208"/>
            <a:ext cx="31455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0F4FA"/>
                </a:solidFill>
                <a:latin typeface="Inter"/>
                <a:ea typeface="Microsoft YaHei"/>
              </a:rPr>
              <a:t>Line uptime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136392"/>
            <a:ext cx="314553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4A3BC"/>
                </a:solidFill>
                <a:latin typeface="Inter"/>
                <a:ea typeface="Microsoft YaHei"/>
              </a:rPr>
              <a:t>Predictive maintenance on pluckers, pumps and compressors before they fail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023360"/>
            <a:ext cx="3474720" cy="1691640"/>
          </a:xfrm>
          <a:prstGeom prst="roundRect">
            <a:avLst>
              <a:gd name="adj" fmla="val 3243"/>
            </a:avLst>
          </a:prstGeom>
          <a:solidFill>
            <a:srgbClr val="0D1423"/>
          </a:solidFill>
          <a:ln w="12700">
            <a:solidFill>
              <a:srgbClr val="2A3A5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2959" y="4187952"/>
            <a:ext cx="256032" cy="32004"/>
          </a:xfrm>
          <a:prstGeom prst="rect">
            <a:avLst/>
          </a:prstGeom>
          <a:solidFill>
            <a:srgbClr val="FFC2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59" y="429768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 i="0">
                <a:solidFill>
                  <a:srgbClr val="FFC24D"/>
                </a:solidFill>
                <a:latin typeface="Consolas"/>
                <a:ea typeface="Microsoft YaHei"/>
              </a:rPr>
              <a:t>48h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95728" y="4334256"/>
            <a:ext cx="1371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B7CFF"/>
                </a:solidFill>
                <a:latin typeface="Consolas"/>
                <a:ea typeface="Microsoft YaHei"/>
              </a:rPr>
              <a:t>target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" y="4681728"/>
            <a:ext cx="31455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0F4FA"/>
                </a:solidFill>
                <a:latin typeface="Inter"/>
                <a:ea typeface="Microsoft YaHei"/>
              </a:rPr>
              <a:t>Earlier warning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5010912"/>
            <a:ext cx="314553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4A3BC"/>
                </a:solidFill>
                <a:latin typeface="Inter"/>
                <a:ea typeface="Microsoft YaHei"/>
              </a:rPr>
              <a:t>Food-safety early warning — Salmonella &amp; Campylobacter signals before they spread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61688" y="4023360"/>
            <a:ext cx="3474720" cy="1691640"/>
          </a:xfrm>
          <a:prstGeom prst="roundRect">
            <a:avLst>
              <a:gd name="adj" fmla="val 3243"/>
            </a:avLst>
          </a:prstGeom>
          <a:solidFill>
            <a:srgbClr val="0D1423"/>
          </a:solidFill>
          <a:ln w="12700">
            <a:solidFill>
              <a:srgbClr val="2A3A5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26279" y="4187952"/>
            <a:ext cx="256032" cy="32004"/>
          </a:xfrm>
          <a:prstGeom prst="rect">
            <a:avLst/>
          </a:prstGeom>
          <a:solidFill>
            <a:srgbClr val="FFC2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26279" y="429768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 i="0">
                <a:solidFill>
                  <a:srgbClr val="FFC24D"/>
                </a:solidFill>
                <a:latin typeface="Consolas"/>
                <a:ea typeface="Microsoft YaHei"/>
              </a:rPr>
              <a:t>−20%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9048" y="4334256"/>
            <a:ext cx="1371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B7CFF"/>
                </a:solidFill>
                <a:latin typeface="Consolas"/>
                <a:ea typeface="Microsoft YaHei"/>
              </a:rPr>
              <a:t>target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79" y="4681728"/>
            <a:ext cx="31455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0F4FA"/>
                </a:solidFill>
                <a:latin typeface="Inter"/>
                <a:ea typeface="Microsoft YaHei"/>
              </a:rPr>
              <a:t>Water &amp; chemicals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79" y="5010912"/>
            <a:ext cx="314553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4A3BC"/>
                </a:solidFill>
                <a:latin typeface="Inter"/>
                <a:ea typeface="Microsoft YaHei"/>
              </a:rPr>
              <a:t>Smart washdown and process-water optimization, per shift and per flock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65008" y="4023360"/>
            <a:ext cx="3474720" cy="1691640"/>
          </a:xfrm>
          <a:prstGeom prst="roundRect">
            <a:avLst>
              <a:gd name="adj" fmla="val 3243"/>
            </a:avLst>
          </a:prstGeom>
          <a:solidFill>
            <a:srgbClr val="0D1423"/>
          </a:solidFill>
          <a:ln w="12700">
            <a:solidFill>
              <a:srgbClr val="2A3A5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229600" y="4187952"/>
            <a:ext cx="256032" cy="32004"/>
          </a:xfrm>
          <a:prstGeom prst="rect">
            <a:avLst/>
          </a:prstGeom>
          <a:solidFill>
            <a:srgbClr val="FFC2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600" y="429768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 i="0">
                <a:solidFill>
                  <a:srgbClr val="FFC24D"/>
                </a:solidFill>
                <a:latin typeface="Consolas"/>
                <a:ea typeface="Microsoft YaHei"/>
              </a:rPr>
              <a:t>10x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02368" y="4334256"/>
            <a:ext cx="1371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B7CFF"/>
                </a:solidFill>
                <a:latin typeface="Consolas"/>
                <a:ea typeface="Microsoft YaHei"/>
              </a:rPr>
              <a:t>target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4681728"/>
            <a:ext cx="31455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0F4FA"/>
                </a:solidFill>
                <a:latin typeface="Inter"/>
                <a:ea typeface="Microsoft YaHei"/>
              </a:rPr>
              <a:t>Faster decisions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5010912"/>
            <a:ext cx="314553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4A3BC"/>
                </a:solidFill>
                <a:latin typeface="Inter"/>
                <a:ea typeface="Microsoft YaHei"/>
              </a:rPr>
              <a:t>Line-side and management decisions in hours, not weeks — across the fleet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053328"/>
            <a:ext cx="10881360" cy="260773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4A3BC"/>
                </a:solidFill>
                <a:latin typeface="Inter"/>
                <a:ea typeface="Microsoft YaHei"/>
              </a:rPr>
              <a:t>Source: </a:t>
            </a:r>
            <a:r>
              <a:rPr sz="1000" b="0" i="0">
                <a:solidFill>
                  <a:srgbClr val="94A3BC"/>
                </a:solidFill>
                <a:latin typeface="Inter"/>
                <a:ea typeface="Microsoft YaHei"/>
              </a:rPr>
              <a:t>Indicative target ranges — GEA pilot benchmarks and industry references; validated against each pilot baseline.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8C"/>
                </a:solidFill>
                <a:latin typeface="Inter"/>
                <a:ea typeface="Microsoft YaHei"/>
              </a:rPr>
              <a:t>GEA CHINA × Digit(AI)  ·  PFA POULTRY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8C"/>
                </a:solidFill>
                <a:latin typeface="Inter"/>
                <a:ea typeface="Microsoft YaHei"/>
              </a:rPr>
              <a:t>IN CHINA FOR CHINA  ·  CHINA →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C"/>
                </a:solidFill>
                <a:latin typeface="Consolas"/>
                <a:ea typeface="Microsoft YaHei"/>
              </a:rPr>
              <a:t>09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03504"/>
            <a:ext cx="237744" cy="27432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EE0FF"/>
                </a:solidFill>
                <a:latin typeface="Consolas"/>
                <a:ea typeface="Microsoft YaHei"/>
              </a:rPr>
              <a:t>09  ·  IN CHINA FOR CHINA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0F4FA"/>
                </a:solidFill>
                <a:latin typeface="Inter"/>
                <a:ea typeface="Microsoft YaHei"/>
              </a:rPr>
              <a:t>Poultry Digit(AI) accelerates when it is local by design.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0881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4A3BC"/>
                </a:solidFill>
                <a:latin typeface="Inter"/>
                <a:ea typeface="Microsoft YaHei"/>
              </a:rPr>
              <a:t>AI as the prime example of China → Global.</a:t>
            </a:r>
          </a:p>
        </p:txBody>
      </p:sp>
      <p:sp>
        <p:nvSpPr>
          <p:cNvPr id="10" name="deckkit-intent:{&quot;weight&quot;: &quot;left&quot;, &quot;reason&quot;: &quot;statement page: the claim carries the left, the commitments sit quiet at right&quot;}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2468880"/>
            <a:ext cx="57607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0F4FA"/>
                </a:solidFill>
                <a:latin typeface="Inter"/>
                <a:ea typeface="Microsoft YaHei"/>
              </a:rPr>
              <a:t>Build &amp; prove in China.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00400"/>
            <a:ext cx="57607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3EE0FF"/>
                </a:solidFill>
                <a:latin typeface="Inter"/>
                <a:ea typeface="Microsoft YaHei"/>
              </a:rPr>
              <a:t>Export the system worldwide.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297680"/>
            <a:ext cx="5760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4A3BC"/>
                </a:solidFill>
                <a:latin typeface="Inter"/>
                <a:ea typeface="Microsoft YaHei"/>
              </a:rPr>
              <a:t>Flock data stays local; intelligence and architecture scale.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2468880"/>
            <a:ext cx="2340864" cy="1335024"/>
          </a:xfrm>
          <a:prstGeom prst="roundRect">
            <a:avLst>
              <a:gd name="adj" fmla="val 4109"/>
            </a:avLst>
          </a:prstGeom>
          <a:solidFill>
            <a:srgbClr val="0D1423"/>
          </a:solidFill>
          <a:ln w="12700">
            <a:solidFill>
              <a:srgbClr val="2A3A5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67144" y="2615184"/>
            <a:ext cx="82296" cy="82296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67144" y="2816352"/>
            <a:ext cx="204825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0F4FA"/>
                </a:solidFill>
                <a:latin typeface="Inter"/>
                <a:ea typeface="Microsoft YaHei"/>
              </a:rPr>
              <a:t>Local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7144" y="3218688"/>
            <a:ext cx="2048256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4A3BC"/>
                </a:solidFill>
                <a:latin typeface="Inter"/>
                <a:ea typeface="Microsoft YaHei"/>
              </a:rPr>
              <a:t>CSL / DSL / PIPL compliant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08008" y="2468880"/>
            <a:ext cx="2340864" cy="1335024"/>
          </a:xfrm>
          <a:prstGeom prst="roundRect">
            <a:avLst>
              <a:gd name="adj" fmla="val 4109"/>
            </a:avLst>
          </a:prstGeom>
          <a:solidFill>
            <a:srgbClr val="0D1423"/>
          </a:solidFill>
          <a:ln w="12700">
            <a:solidFill>
              <a:srgbClr val="2A3A5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54312" y="2615184"/>
            <a:ext cx="82296" cy="82296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54312" y="2816352"/>
            <a:ext cx="204825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0F4FA"/>
                </a:solidFill>
                <a:latin typeface="Inter"/>
                <a:ea typeface="Microsoft YaHei"/>
              </a:rPr>
              <a:t>Local speed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4312" y="3218688"/>
            <a:ext cx="2048256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4A3BC"/>
                </a:solidFill>
                <a:latin typeface="Inter"/>
                <a:ea typeface="Microsoft YaHei"/>
              </a:rPr>
              <a:t>Decisions in days, not quarters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3950208"/>
            <a:ext cx="2340864" cy="1335024"/>
          </a:xfrm>
          <a:prstGeom prst="roundRect">
            <a:avLst>
              <a:gd name="adj" fmla="val 4109"/>
            </a:avLst>
          </a:prstGeom>
          <a:solidFill>
            <a:srgbClr val="0D1423"/>
          </a:solidFill>
          <a:ln w="12700">
            <a:solidFill>
              <a:srgbClr val="2A3A5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67144" y="4096512"/>
            <a:ext cx="82296" cy="82296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67144" y="4297680"/>
            <a:ext cx="204825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0F4FA"/>
                </a:solidFill>
                <a:latin typeface="Inter"/>
                <a:ea typeface="Microsoft YaHei"/>
              </a:rPr>
              <a:t>Local talent &amp; partners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7144" y="4700016"/>
            <a:ext cx="2048256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4A3BC"/>
                </a:solidFill>
                <a:latin typeface="Inter"/>
                <a:ea typeface="Microsoft YaHei"/>
              </a:rPr>
              <a:t>China unit owns execution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08008" y="3950208"/>
            <a:ext cx="2340864" cy="1335024"/>
          </a:xfrm>
          <a:prstGeom prst="roundRect">
            <a:avLst>
              <a:gd name="adj" fmla="val 4109"/>
            </a:avLst>
          </a:prstGeom>
          <a:solidFill>
            <a:srgbClr val="0D1423"/>
          </a:solidFill>
          <a:ln w="12700">
            <a:solidFill>
              <a:srgbClr val="2A3A5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354312" y="4096512"/>
            <a:ext cx="82296" cy="82296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54312" y="4297680"/>
            <a:ext cx="204825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0F4FA"/>
                </a:solidFill>
                <a:latin typeface="Inter"/>
                <a:ea typeface="Microsoft YaHei"/>
              </a:rPr>
              <a:t>Local value capture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4312" y="4700016"/>
            <a:ext cx="2048256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4A3BC"/>
                </a:solidFill>
                <a:latin typeface="Inter"/>
                <a:ea typeface="Microsoft YaHei"/>
              </a:rPr>
              <a:t>Built for Chinese poultry first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8C"/>
                </a:solidFill>
                <a:latin typeface="Inter"/>
                <a:ea typeface="Microsoft YaHei"/>
              </a:rPr>
              <a:t>GEA CHINA × Digit(AI)  ·  PFA POULTRY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8C"/>
                </a:solidFill>
                <a:latin typeface="Inter"/>
                <a:ea typeface="Microsoft YaHei"/>
              </a:rPr>
              <a:t>IN CHINA FOR CHINA  ·  CHINA →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C"/>
                </a:solidFill>
                <a:latin typeface="Consolas"/>
                <a:ea typeface="Microsoft YaHei"/>
              </a:rPr>
              <a:t>10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03504"/>
            <a:ext cx="237744" cy="27432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EE0FF"/>
                </a:solidFill>
                <a:latin typeface="Consolas"/>
                <a:ea typeface="Microsoft YaHei"/>
              </a:rPr>
              <a:t>10  ·  REPEAT THE STORY EVERYWHERE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0F4FA"/>
                </a:solidFill>
                <a:latin typeface="Inter"/>
                <a:ea typeface="Microsoft YaHei"/>
              </a:rPr>
              <a:t>The Sunner playbook is not a one-off. It is a template.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0881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4A3BC"/>
                </a:solidFill>
                <a:latin typeface="Inter"/>
                <a:ea typeface="Microsoft YaHei"/>
              </a:rPr>
              <a:t>One proven story — now a repeatability engine for China, and for the world.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148840"/>
            <a:ext cx="3474720" cy="2103120"/>
          </a:xfrm>
          <a:prstGeom prst="roundRect">
            <a:avLst>
              <a:gd name="adj" fmla="val 2608"/>
            </a:avLst>
          </a:prstGeom>
          <a:solidFill>
            <a:srgbClr val="0D1423"/>
          </a:solidFill>
          <a:ln w="12700">
            <a:solidFill>
              <a:srgbClr val="2A3A5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59" y="2313432"/>
            <a:ext cx="256032" cy="32004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2377440"/>
            <a:ext cx="10972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3EE0FF"/>
                </a:solidFill>
                <a:latin typeface="Consolas"/>
                <a:ea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880360"/>
            <a:ext cx="314553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0F4FA"/>
                </a:solidFill>
                <a:latin typeface="Inter"/>
                <a:ea typeface="Microsoft YaHei"/>
              </a:rPr>
              <a:t>PROVEN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337560"/>
            <a:ext cx="3145536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4A3BC"/>
                </a:solidFill>
                <a:latin typeface="Inter"/>
                <a:ea typeface="Microsoft YaHei"/>
              </a:rPr>
              <a:t>GEA China × Sunner: equipment, partnership and trust that helped build Asia's No.1 full-chain champion.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2148840"/>
            <a:ext cx="3474720" cy="2103120"/>
          </a:xfrm>
          <a:prstGeom prst="roundRect">
            <a:avLst>
              <a:gd name="adj" fmla="val 2608"/>
            </a:avLst>
          </a:prstGeom>
          <a:solidFill>
            <a:srgbClr val="0D1423"/>
          </a:solidFill>
          <a:ln w="12700">
            <a:solidFill>
              <a:srgbClr val="2A3A5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26279" y="2313432"/>
            <a:ext cx="256032" cy="32004"/>
          </a:xfrm>
          <a:prstGeom prst="rect">
            <a:avLst/>
          </a:prstGeom>
          <a:solidFill>
            <a:srgbClr val="FFC2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6279" y="2377440"/>
            <a:ext cx="10972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FFC24D"/>
                </a:solidFill>
                <a:latin typeface="Consolas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2880360"/>
            <a:ext cx="314553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0F4FA"/>
                </a:solidFill>
                <a:latin typeface="Inter"/>
                <a:ea typeface="Microsoft YaHei"/>
              </a:rPr>
              <a:t>AMPLIFIED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3337560"/>
            <a:ext cx="3145536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4A3BC"/>
                </a:solidFill>
                <a:latin typeface="Inter"/>
                <a:ea typeface="Microsoft YaHei"/>
              </a:rPr>
              <a:t>Digit(AI) will overlay the same plants: yield, energy, uptime, food safety — intelligence on lines GEA already built.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2148840"/>
            <a:ext cx="3474720" cy="2103120"/>
          </a:xfrm>
          <a:prstGeom prst="roundRect">
            <a:avLst>
              <a:gd name="adj" fmla="val 2608"/>
            </a:avLst>
          </a:prstGeom>
          <a:solidFill>
            <a:srgbClr val="0D1423"/>
          </a:solidFill>
          <a:ln w="12700">
            <a:solidFill>
              <a:srgbClr val="2A3A5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0" y="2313432"/>
            <a:ext cx="256032" cy="32004"/>
          </a:xfrm>
          <a:prstGeom prst="rect">
            <a:avLst/>
          </a:prstGeom>
          <a:solidFill>
            <a:srgbClr val="8B7C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2377440"/>
            <a:ext cx="10972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8B7CFF"/>
                </a:solidFill>
                <a:latin typeface="Consolas"/>
                <a:ea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880360"/>
            <a:ext cx="314553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0F4FA"/>
                </a:solidFill>
                <a:latin typeface="Inter"/>
                <a:ea typeface="Microsoft YaHei"/>
              </a:rPr>
              <a:t>REPEATED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337560"/>
            <a:ext cx="3145536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4A3BC"/>
                </a:solidFill>
                <a:latin typeface="Inter"/>
                <a:ea typeface="Microsoft YaHei"/>
              </a:rPr>
              <a:t>The same playbook scales to every China integrator — and exports to global poultry players worldwide.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434840"/>
            <a:ext cx="10872216" cy="566928"/>
          </a:xfrm>
          <a:prstGeom prst="roundRect">
            <a:avLst>
              <a:gd name="adj" fmla="val 9677"/>
            </a:avLst>
          </a:prstGeom>
          <a:solidFill>
            <a:srgbClr val="0D1423"/>
          </a:solidFill>
          <a:ln w="12700">
            <a:solidFill>
              <a:srgbClr val="2A3A5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" y="4562856"/>
            <a:ext cx="45720" cy="310896"/>
          </a:xfrm>
          <a:prstGeom prst="rect">
            <a:avLst/>
          </a:prstGeom>
          <a:solidFill>
            <a:srgbClr val="FFC2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1560" y="4434840"/>
            <a:ext cx="10241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C24D"/>
                </a:solidFill>
                <a:latin typeface="Inter"/>
                <a:ea typeface="Microsoft YaHei"/>
              </a:rPr>
              <a:t>NEXT BUSINESS MODEL   </a:t>
            </a:r>
            <a:r>
              <a:rPr sz="1200" b="0" i="0">
                <a:solidFill>
                  <a:srgbClr val="94A3BC"/>
                </a:solidFill>
                <a:latin typeface="Inter"/>
                <a:ea typeface="Microsoft YaHei"/>
              </a:rPr>
              <a:t>yield-based pricing  ·  outcome-based contracts  ·  service productization  ·  fleet benchmarking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257800"/>
            <a:ext cx="108813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0F4FA"/>
                </a:solidFill>
                <a:latin typeface="Inter"/>
                <a:ea typeface="Microsoft YaHei"/>
              </a:rPr>
              <a:t>China's next integrators are waiting — 禾丰, 温氏, 正大, 新希望 — and so are poultry players worldwide.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8B7CFF"/>
                </a:solidFill>
                <a:latin typeface="Inter"/>
                <a:ea typeface="Microsoft YaHei"/>
              </a:rPr>
              <a:t>The story GEA China wrote with Sunner can be written again — everywhere.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8C"/>
                </a:solidFill>
                <a:latin typeface="Inter"/>
                <a:ea typeface="Microsoft YaHei"/>
              </a:rPr>
              <a:t>GEA CHINA × Digit(AI)  ·  PFA POULTRY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8C"/>
                </a:solidFill>
                <a:latin typeface="Inter"/>
                <a:ea typeface="Microsoft YaHei"/>
              </a:rPr>
              <a:t>IN CHINA FOR CHINA  ·  CHINA →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C"/>
                </a:solidFill>
                <a:latin typeface="Consolas"/>
                <a:ea typeface="Microsoft YaHei"/>
              </a:rPr>
              <a:t>11 / 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784080" y="365760"/>
            <a:ext cx="731520" cy="457200"/>
          </a:xfrm>
          <a:prstGeom prst="line">
            <a:avLst/>
          </a:prstGeom>
          <a:ln w="9525">
            <a:solidFill>
              <a:srgbClr val="24385C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 flipV="1">
            <a:off x="10515600" y="182880"/>
            <a:ext cx="822960" cy="640080"/>
          </a:xfrm>
          <a:prstGeom prst="line">
            <a:avLst/>
          </a:prstGeom>
          <a:ln w="9525">
            <a:solidFill>
              <a:srgbClr val="24385C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 flipH="1">
            <a:off x="11064240" y="182880"/>
            <a:ext cx="274320" cy="1280160"/>
          </a:xfrm>
          <a:prstGeom prst="line">
            <a:avLst/>
          </a:prstGeom>
          <a:ln w="9525">
            <a:solidFill>
              <a:srgbClr val="24385C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 flipH="1">
            <a:off x="10332720" y="1463040"/>
            <a:ext cx="731520" cy="731520"/>
          </a:xfrm>
          <a:prstGeom prst="line">
            <a:avLst/>
          </a:prstGeom>
          <a:ln w="9525">
            <a:solidFill>
              <a:srgbClr val="24385C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10332720" y="2194560"/>
            <a:ext cx="1280160" cy="91440"/>
          </a:xfrm>
          <a:prstGeom prst="line">
            <a:avLst/>
          </a:prstGeom>
          <a:ln w="9525">
            <a:solidFill>
              <a:srgbClr val="24385C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H="1" flipV="1">
            <a:off x="9966960" y="914400"/>
            <a:ext cx="1645920" cy="1371600"/>
          </a:xfrm>
          <a:prstGeom prst="line">
            <a:avLst/>
          </a:prstGeom>
          <a:ln w="9525">
            <a:solidFill>
              <a:srgbClr val="24385C"/>
            </a:solidFill>
          </a:ln>
          <a:effectLst/>
        </p:spPr>
      </p:cxnSp>
      <p:sp>
        <p:nvSpPr>
          <p:cNvPr id="12" name="Rectangle 11"/>
          <p:cNvSpPr/>
          <p:nvPr/>
        </p:nvSpPr>
        <p:spPr>
          <a:xfrm>
            <a:off x="9784080" y="365760"/>
            <a:ext cx="45720" cy="45720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515600" y="822960"/>
            <a:ext cx="45720" cy="45720"/>
          </a:xfrm>
          <a:prstGeom prst="rect">
            <a:avLst/>
          </a:prstGeom>
          <a:solidFill>
            <a:srgbClr val="3A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338560" y="182880"/>
            <a:ext cx="45720" cy="45720"/>
          </a:xfrm>
          <a:prstGeom prst="rect">
            <a:avLst/>
          </a:prstGeom>
          <a:solidFill>
            <a:srgbClr val="3A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064240" y="1463040"/>
            <a:ext cx="45720" cy="45720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32720" y="2194560"/>
            <a:ext cx="45720" cy="45720"/>
          </a:xfrm>
          <a:prstGeom prst="rect">
            <a:avLst/>
          </a:prstGeom>
          <a:solidFill>
            <a:srgbClr val="3A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612880" y="2286000"/>
            <a:ext cx="45720" cy="45720"/>
          </a:xfrm>
          <a:prstGeom prst="rect">
            <a:avLst/>
          </a:prstGeom>
          <a:solidFill>
            <a:srgbClr val="3A4E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966960" y="914400"/>
            <a:ext cx="45720" cy="45720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1554480"/>
            <a:ext cx="108813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0F4FA"/>
                </a:solidFill>
                <a:latin typeface="Inter"/>
                <a:ea typeface="Microsoft YaHei"/>
              </a:rPr>
              <a:t>THE FUTURE IS NOT A DESTINATION.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331720"/>
            <a:ext cx="108813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3EE0FF"/>
                </a:solidFill>
                <a:latin typeface="Inter"/>
                <a:ea typeface="Microsoft YaHei"/>
              </a:rPr>
              <a:t>IT IS A SYSTEM WE BUILD.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291840"/>
            <a:ext cx="2011680" cy="10972"/>
          </a:xfrm>
          <a:prstGeom prst="rect">
            <a:avLst/>
          </a:prstGeom>
          <a:solidFill>
            <a:srgbClr val="2A3A5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3474720"/>
            <a:ext cx="91440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0F4FA"/>
                </a:solidFill>
                <a:latin typeface="Inter"/>
                <a:ea typeface="Microsoft YaHei"/>
              </a:rPr>
              <a:t>GEA × Digit(AI)</a:t>
            </a:r>
            <a:r>
              <a:rPr sz="1400" b="1" i="0">
                <a:solidFill>
                  <a:srgbClr val="94A3BC"/>
                </a:solidFill>
                <a:latin typeface="Inter"/>
                <a:ea typeface="Microsoft YaHei"/>
              </a:rPr>
              <a:t>   ·   PFA POULTRY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EE0FF"/>
                </a:solidFill>
                <a:latin typeface="Inter"/>
                <a:ea typeface="Microsoft YaHei"/>
              </a:rPr>
              <a:t>IN CHINA  ·  FOR CHINA  ·  FOR THE WORLD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572000"/>
            <a:ext cx="8229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4A3BC"/>
                </a:solidFill>
                <a:latin typeface="Inter"/>
                <a:ea typeface="Microsoft YaHei"/>
              </a:rPr>
              <a:t>The Sunner story, written once — ready to repeat everywhere. Poultry AI is the first system we take from China to Global.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212080"/>
            <a:ext cx="4572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0F4FA"/>
                </a:solidFill>
                <a:latin typeface="Inter"/>
                <a:ea typeface="Microsoft YaHei"/>
              </a:rPr>
              <a:t>Let's engineer it.  →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5897880"/>
            <a:ext cx="10872216" cy="0"/>
          </a:xfrm>
          <a:prstGeom prst="line">
            <a:avLst/>
          </a:prstGeom>
          <a:ln w="15240">
            <a:solidFill>
              <a:srgbClr val="1E4C66"/>
            </a:solidFill>
          </a:ln>
          <a:effectLst/>
        </p:spPr>
      </p:cxnSp>
      <p:sp>
        <p:nvSpPr>
          <p:cNvPr id="27" name="Rectangle 26"/>
          <p:cNvSpPr/>
          <p:nvPr/>
        </p:nvSpPr>
        <p:spPr>
          <a:xfrm>
            <a:off x="621792" y="5861304"/>
            <a:ext cx="73152" cy="73152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69663" y="5861304"/>
            <a:ext cx="73152" cy="73152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827264" y="5861304"/>
            <a:ext cx="73152" cy="73152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deckkit-motif-quiet"/>
          <p:cNvSpPr/>
          <p:nvPr/>
        </p:nvSpPr>
        <p:spPr>
          <a:xfrm>
            <a:off x="11494008" y="5861304"/>
            <a:ext cx="73152" cy="73152"/>
          </a:xfrm>
          <a:prstGeom prst="rect">
            <a:avLst/>
          </a:prstGeom>
          <a:solidFill>
            <a:srgbClr val="3E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2050</Words>
  <Application>Microsoft Office PowerPoint</Application>
  <PresentationFormat>Custom</PresentationFormat>
  <Paragraphs>201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Inter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Victor Lee</cp:lastModifiedBy>
  <cp:revision>1</cp:revision>
  <dcterms:created xsi:type="dcterms:W3CDTF">2013-01-27T09:14:16Z</dcterms:created>
  <dcterms:modified xsi:type="dcterms:W3CDTF">2026-08-28T15:44:11Z</dcterms:modified>
  <cp:category/>
</cp:coreProperties>
</file>