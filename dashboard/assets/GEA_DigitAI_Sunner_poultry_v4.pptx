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1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81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GEA times Digit(AI) is not a slogan, it is the equation we are building. One intelligent operating system from bird to bite - built in China, for China, with global reach. Poultry is where we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Digit(AI) is not digital plus AI as two separate programs. The physical - our lines, real plants, real birds. The digit - platforms, data, edge and cloud. And AI as the multiplier, not an add-on. One fused operating layer for the whole plant, not three parallel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poultry, why now. 26.6 million tonnes of output, growing 3.8 percent a year. More than 20 billion birds processed in China every year. The world's number-two poultry producer. Labor scarcity, food-safety scrutiny, margin pressure per gram of yield - poultry is the fastest, most data-dense protein, the place where AI learns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Sunner is the proof. 20.1 billion renminbi revenue in 2025, 800 million broilers a year, Asia's largest full-chain player, world number six. With Shengze 901 they broke a hundred years of foreign monopoly in genetics - and already export to Africa and Central Asia. GEA China's lines have powered that rise for years: that installed base is exactly the data foundation Digit(AI)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Follow one bird. Eight stages, one data thread. From live receiving to packaging, every step sensed, connected, optimizable. On evisceration, chilling and cut-up the AI overlay already changes the economics: vision-guided inspection, autonomous setpoints, yield-optimized cutting - and full-flock traceability from bird to bite.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stack, China-ready by design. Edge and IIoT at the line, with compliant OT paths. A data and cloud layer on Azure China, residency and PIPL aligned. AI and agents - the prime example - on Azure AI Foundry, built in China and designed for global scale. And human plus machine: augmented operators, Chinese-language interfaces, local process fluency.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engine is powered by what the enterprise already runs. SAP is the business backbone. The ontology is the semantic layer: one shared language for assets, flocks and lots. Azure AI Foundry builds and governs the models. And it is a closed loop - every AI decision lands back in the lines and in the ERP. No swivel-chair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Act two. Same plants, same GEA lines, same birds - new intelligence on top. Six indicative targets we would validate at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Act two - what Digit(AI) can take Sunner to. These are indicative target ranges we would validate against each pilot baseline, not promises: one to two percent more meat yield per bird; fifteen percent less energy; ninety-nine-plus percent line uptime; food-safety warnings 48 hours earlier; twenty percent less water and chemicals; decisions in hours, not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China for China is architecture, not a slogan. Local cloud, edge and AI that meet CSL, DSL and PIPL from day one; decision loops in days; a China digital unit that owns execution; value captured with Chinese customers first. And that is exactly what makes it the China-to-Global proof: build and prove here, at the world's largest volumes, then export the system - while flock data stays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Sunner playbook is a template, not a one-off. Proven with Sunner; amplified by Digit(AI) on the same plants; repeated across China's next integrators - Hefeng, Wens, Chia Tai, New Hope - and then with poultry players worldwide. And the commercial model evolves with it: yield-based pricing, outcome-based contracts, service productization.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future is not a destination. It is a system we build. The Sunner story, written once - ready to repeat everywhere. Poultry AI is the first system we take from China to Global. Let's engineer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01 / 12</a:t>
            </a:r>
          </a:p>
        </p:txBody>
      </p:sp>
      <p:pic>
        <p:nvPicPr>
          <p:cNvPr id="19" name="Picture 18" descr="qu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846" y="91440"/>
            <a:ext cx="4071667" cy="27432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5806440"/>
            <a:ext cx="3959352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lat geometric hen mascot in yolk orange with comb-red comb" title="flat geometric hen mascot in yolk orange with comb-red com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857500"/>
            <a:ext cx="3154680" cy="3154680"/>
          </a:xfrm>
          <a:prstGeom prst="rect">
            <a:avLst/>
          </a:prstGeom>
        </p:spPr>
      </p:pic>
      <p:pic>
        <p:nvPicPr>
          <p:cNvPr id="22" name="Picture 21" descr="circular GRADE A poultry plant stamp in comb red" title="circular GRADE A poultry plant stamp in comb r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297680"/>
            <a:ext cx="1783080" cy="17830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GEA PFA POULTRY  ·  DIGITAL + AI  ·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1737360"/>
            <a:ext cx="10607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2A2118"/>
                </a:solidFill>
                <a:latin typeface="Georgia"/>
                <a:ea typeface="Microsoft YaHei"/>
              </a:rPr>
              <a:t>GEA × Digit(AI)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788920"/>
            <a:ext cx="10607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0E7C7B"/>
                </a:solidFill>
                <a:latin typeface="Georgia"/>
                <a:ea typeface="Microsoft YaHei"/>
              </a:rPr>
              <a:t>= THE FUTURE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977639"/>
            <a:ext cx="7863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B5D4C"/>
                </a:solidFill>
                <a:latin typeface="Segoe UI"/>
                <a:ea typeface="Microsoft YaHei"/>
              </a:rPr>
              <a:t>The intelligent poultry plant — one operating system from bird to bite.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709160"/>
            <a:ext cx="5074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40680" y="469087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458968" y="4709160"/>
            <a:ext cx="274320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31" name="Oval 30"/>
          <p:cNvSpPr/>
          <p:nvPr/>
        </p:nvSpPr>
        <p:spPr>
          <a:xfrm>
            <a:off x="5221224" y="483717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709160"/>
            <a:ext cx="5074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2118"/>
                </a:solidFill>
                <a:latin typeface="Segoe UI"/>
                <a:ea typeface="Microsoft YaHei"/>
              </a:rPr>
              <a:t>IN CHINA  ·  FOR CHINA  ·  WITH GLOBAL 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83230"/>
                </a:solidFill>
                <a:latin typeface="Segoe UI"/>
                <a:ea typeface="Microsoft YaHei"/>
              </a:rPr>
              <a:t>AI as the prime example of China →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02  ·  THE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Digit(AI) is not digital plus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It is the fusion of digital platforms and artificial intelligence into a single intelligent operating layer — for the poultry plant.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68880"/>
            <a:ext cx="320040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468880"/>
            <a:ext cx="30906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PHYSICAL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GEA poultry lines,
kill lines to cut-up,
real plants, real birds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2468880"/>
            <a:ext cx="320040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1" y="2468880"/>
            <a:ext cx="30906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DIGIT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Platforms, data,
edge + cloud,
secure 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1420" y="3180016"/>
            <a:ext cx="685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8A7B66"/>
                </a:solidFill>
                <a:latin typeface="Segoe UI"/>
                <a:ea typeface="Microsoft YaHei"/>
              </a:rPr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468880"/>
            <a:ext cx="3026664" cy="1920240"/>
          </a:xfrm>
          <a:prstGeom prst="rect">
            <a:avLst/>
          </a:prstGeom>
          <a:solidFill>
            <a:srgbClr val="F6E7C8"/>
          </a:solidFill>
          <a:ln w="17780">
            <a:solidFill>
              <a:srgbClr val="0E7C7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8784" y="2468880"/>
            <a:ext cx="2916936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ONE FUSED
OPERATING LAYER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for the whole plant</a:t>
            </a:r>
          </a:p>
        </p:txBody>
      </p:sp>
      <p:sp>
        <p:nvSpPr>
          <p:cNvPr id="20" name="Oval 19"/>
          <p:cNvSpPr/>
          <p:nvPr/>
        </p:nvSpPr>
        <p:spPr>
          <a:xfrm>
            <a:off x="7691764" y="3119359"/>
            <a:ext cx="640080" cy="630930"/>
          </a:xfrm>
          <a:prstGeom prst="ellipse">
            <a:avLst/>
          </a:prstGeom>
          <a:solidFill>
            <a:srgbClr val="FBF6EC"/>
          </a:solidFill>
          <a:ln w="15240">
            <a:solidFill>
              <a:srgbClr val="D64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60051" y="3302462"/>
            <a:ext cx="640080" cy="251351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dirty="0">
                <a:solidFill>
                  <a:srgbClr val="A83230"/>
                </a:solidFill>
                <a:latin typeface="Segoe UI"/>
                <a:ea typeface="Microsoft YaHei"/>
              </a:rPr>
              <a:t>×</a:t>
            </a:r>
            <a:r>
              <a:rPr lang="en-US" sz="1300" b="1" i="0" dirty="0">
                <a:solidFill>
                  <a:srgbClr val="A83230"/>
                </a:solidFill>
                <a:latin typeface="Segoe UI"/>
                <a:ea typeface="Microsoft YaHei"/>
              </a:rPr>
              <a:t>A</a:t>
            </a:r>
            <a:r>
              <a:rPr sz="1300" b="1" i="0" dirty="0">
                <a:solidFill>
                  <a:srgbClr val="A83230"/>
                </a:solidFill>
                <a:latin typeface="Segoe UI"/>
                <a:ea typeface="Microsoft YaHei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B5D4C"/>
                </a:solidFill>
                <a:latin typeface="Segoe UI"/>
                <a:ea typeface="Microsoft YaHei"/>
              </a:rPr>
              <a:t>One fused layer for the whole plant — </a:t>
            </a:r>
            <a:r>
              <a:rPr sz="1500" b="1" i="0">
                <a:solidFill>
                  <a:srgbClr val="2A2118"/>
                </a:solidFill>
                <a:latin typeface="Segoe UI"/>
                <a:ea typeface="Microsoft YaHei"/>
              </a:rPr>
              <a:t>not three parallel programs.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03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03  ·  WHY POULTRY, WHY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China's poultry market is the perfect proving ground.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Scale, speed and scrutiny — the three forces that make AI inevitable.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377440"/>
            <a:ext cx="3291840" cy="731520"/>
          </a:xfrm>
          <a:prstGeom prst="rect">
            <a:avLst/>
          </a:prstGeom>
          <a:noFill/>
          <a:ln/>
        </p:spPr>
        <p:txBody>
          <a:bodyPr wrap="non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7C7B"/>
                </a:solidFill>
                <a:latin typeface="Segoe UI"/>
                <a:ea typeface="Microsoft YaHei"/>
              </a:rPr>
              <a:t>26.6 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5D4C"/>
                </a:solidFill>
                <a:latin typeface="Segoe UI"/>
                <a:ea typeface="Microsoft YaHei"/>
              </a:rPr>
              <a:t>China poultry meat output, 2024 (+3.8% YoY)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514600"/>
            <a:ext cx="10972" cy="1371600"/>
          </a:xfrm>
          <a:prstGeom prst="rect">
            <a:avLst/>
          </a:prstGeom>
          <a:solidFill>
            <a:srgbClr val="DDCB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79392" y="2377440"/>
            <a:ext cx="3291840" cy="731520"/>
          </a:xfrm>
          <a:prstGeom prst="rect">
            <a:avLst/>
          </a:prstGeom>
          <a:noFill/>
          <a:ln/>
        </p:spPr>
        <p:txBody>
          <a:bodyPr wrap="non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7C7B"/>
                </a:solidFill>
                <a:latin typeface="Segoe UI"/>
                <a:ea typeface="Microsoft YaHei"/>
              </a:rPr>
              <a:t>20B+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5D4C"/>
                </a:solidFill>
                <a:latin typeface="Segoe UI"/>
                <a:ea typeface="Microsoft YaHei"/>
              </a:rPr>
              <a:t>Birds processed in China every year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35824" y="2514600"/>
            <a:ext cx="10972" cy="1371600"/>
          </a:xfrm>
          <a:prstGeom prst="rect">
            <a:avLst/>
          </a:prstGeom>
          <a:solidFill>
            <a:srgbClr val="DDCB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0416" y="2377440"/>
            <a:ext cx="3291840" cy="731520"/>
          </a:xfrm>
          <a:prstGeom prst="rect">
            <a:avLst/>
          </a:prstGeom>
          <a:noFill/>
          <a:ln/>
        </p:spPr>
        <p:txBody>
          <a:bodyPr wrap="non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A83230"/>
                </a:solidFill>
                <a:latin typeface="Segoe UI"/>
                <a:ea typeface="Microsoft YaHei"/>
              </a:rPr>
              <a:t>No.2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5D4C"/>
                </a:solidFill>
                <a:latin typeface="Segoe UI"/>
                <a:ea typeface="Microsoft YaHei"/>
              </a:rPr>
              <a:t>World poultry producer — and still growing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A2118"/>
                </a:solidFill>
                <a:latin typeface="Segoe UI"/>
                <a:ea typeface="Microsoft YaHei"/>
              </a:rPr>
              <a:t>Labor scarcity. Food-safety scrutiny. Margin pressure per gram of yield.</a:t>
            </a:r>
          </a:p>
        </p:txBody>
      </p:sp>
      <p:pic>
        <p:nvPicPr>
          <p:cNvPr id="32" name="Picture 31" descr="scribble_unde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0" y="4773168"/>
            <a:ext cx="4466336" cy="640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8368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3230"/>
                </a:solidFill>
                <a:latin typeface="Segoe UI"/>
                <a:ea typeface="Microsoft YaHei"/>
              </a:rPr>
              <a:t>China is the proving ground. Poultry AI is the prime example of China → Global.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04  ·  THE SUNNER STORY · BUILT WITH GEA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Sunner 圣农: a success story GEA China helped 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GEA processing technology has run inside Sunner's rise — full-chain integration is the ideal foundation for what comes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8600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35808" y="226771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054096" y="2286000"/>
            <a:ext cx="274319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2816352" y="241401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7" y="2487168"/>
            <a:ext cx="3657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2880360"/>
            <a:ext cx="23042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7C7B"/>
                </a:solidFill>
                <a:latin typeface="Segoe UI"/>
                <a:ea typeface="Microsoft YaHei"/>
              </a:rPr>
              <a:t>¥20.1B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749039"/>
            <a:ext cx="2194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Revenue 2025 (+8.1%)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Net profit +90.6% (FY2025 report)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28600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0" y="226771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870448" y="2286000"/>
            <a:ext cx="274320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21" name="Oval 20"/>
          <p:cNvSpPr/>
          <p:nvPr/>
        </p:nvSpPr>
        <p:spPr>
          <a:xfrm>
            <a:off x="5632704" y="241401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0" y="2487168"/>
            <a:ext cx="3657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2880360"/>
            <a:ext cx="23042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7C7B"/>
                </a:solidFill>
                <a:latin typeface="Segoe UI"/>
                <a:ea typeface="Microsoft YaHei"/>
              </a:rPr>
              <a:t>800M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463" y="3749039"/>
            <a:ext cx="2194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White-feather broilers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capacity per year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28600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68512" y="226771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8686800" y="2286000"/>
            <a:ext cx="274320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8449056" y="241401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73952" y="2487168"/>
            <a:ext cx="365760" cy="41148"/>
          </a:xfrm>
          <a:prstGeom prst="rect">
            <a:avLst/>
          </a:prstGeom>
          <a:solidFill>
            <a:srgbClr val="A83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880360"/>
            <a:ext cx="23042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A83230"/>
                </a:solidFill>
                <a:latin typeface="Segoe UI"/>
                <a:ea typeface="Microsoft YaHei"/>
              </a:rPr>
              <a:t>No.1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749039"/>
            <a:ext cx="2194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Asia's largest full-chain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player — world No.6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07424" y="228600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484864" y="226771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11503152" y="2286000"/>
            <a:ext cx="274320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35" name="Oval 34"/>
          <p:cNvSpPr/>
          <p:nvPr/>
        </p:nvSpPr>
        <p:spPr>
          <a:xfrm>
            <a:off x="11265408" y="241401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90304" y="2487168"/>
            <a:ext cx="365760" cy="41148"/>
          </a:xfrm>
          <a:prstGeom prst="rect">
            <a:avLst/>
          </a:prstGeom>
          <a:solidFill>
            <a:srgbClr val="A83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90304" y="2880360"/>
            <a:ext cx="23042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A83230"/>
                </a:solidFill>
                <a:latin typeface="Segoe UI"/>
                <a:ea typeface="Microsoft YaHei"/>
              </a:rPr>
              <a:t>圣泽901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749039"/>
            <a:ext cx="2194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Self-bred genetics: broke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100 yrs of foreign monopoly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20640"/>
            <a:ext cx="8686800" cy="914400"/>
          </a:xfrm>
          <a:prstGeom prst="rect">
            <a:avLst/>
          </a:prstGeom>
          <a:solidFill>
            <a:srgbClr val="F6E7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5120640"/>
            <a:ext cx="8275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A2118"/>
                </a:solidFill>
                <a:latin typeface="Segoe UI"/>
                <a:ea typeface="Microsoft YaHei"/>
              </a:rPr>
              <a:t>For years, GEA China's lines have powered Sunner's chain. </a:t>
            </a:r>
            <a:r>
              <a:rPr sz="1300" b="0" i="0">
                <a:solidFill>
                  <a:srgbClr val="6B5D4C"/>
                </a:solidFill>
                <a:latin typeface="Segoe UI"/>
                <a:ea typeface="Microsoft YaHei"/>
              </a:rPr>
              <a:t>Every GEA stage is already the data foundation Digit(AI) needs.</a:t>
            </a:r>
          </a:p>
        </p:txBody>
      </p:sp>
      <p:sp>
        <p:nvSpPr>
          <p:cNvPr id="41" name="Oval 40"/>
          <p:cNvSpPr/>
          <p:nvPr/>
        </p:nvSpPr>
        <p:spPr>
          <a:xfrm rot="20880000">
            <a:off x="9921240" y="5029200"/>
            <a:ext cx="1188720" cy="1188720"/>
          </a:xfrm>
          <a:prstGeom prst="ellipse">
            <a:avLst/>
          </a:prstGeom>
          <a:noFill/>
          <a:ln w="15240">
            <a:solidFill>
              <a:srgbClr val="D645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 rot="20880000">
            <a:off x="10099548" y="5207508"/>
            <a:ext cx="832103" cy="832103"/>
          </a:xfrm>
          <a:prstGeom prst="ellipse">
            <a:avLst/>
          </a:prstGeom>
          <a:noFill/>
          <a:ln w="12700">
            <a:solidFill>
              <a:srgbClr val="D64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21240" y="5362041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3230"/>
                </a:solidFill>
                <a:latin typeface="Consolas"/>
                <a:ea typeface="Microsoft YaHei"/>
              </a:rPr>
              <a:t>GRADE 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5742432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50" b="0" i="0">
                <a:solidFill>
                  <a:srgbClr val="A83230"/>
                </a:solidFill>
                <a:latin typeface="Consolas"/>
                <a:ea typeface="Microsoft YaHei"/>
              </a:rPr>
              <a:t>FLOCK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05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05  ·  THE CONNECTED BIRD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One bird. One data thread. Eight stages.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From live receiving to packaging — every step sensed, connected, and optimizable.</a:t>
            </a:r>
          </a:p>
        </p:txBody>
      </p:sp>
      <p:cxnSp>
        <p:nvCxnSpPr>
          <p:cNvPr id="23" name="deckkit-motif-loud"/>
          <p:cNvCxnSpPr/>
          <p:nvPr/>
        </p:nvCxnSpPr>
        <p:spPr>
          <a:xfrm>
            <a:off x="3707891" y="3703320"/>
            <a:ext cx="4773169" cy="0"/>
          </a:xfrm>
          <a:prstGeom prst="line">
            <a:avLst/>
          </a:prstGeom>
          <a:ln w="25400">
            <a:solidFill>
              <a:srgbClr val="0E7C7B"/>
            </a:solidFill>
          </a:ln>
          <a:effectLst/>
        </p:spPr>
      </p:cxnSp>
      <p:sp>
        <p:nvSpPr>
          <p:cNvPr id="24" name="Oval 23"/>
          <p:cNvSpPr/>
          <p:nvPr/>
        </p:nvSpPr>
        <p:spPr>
          <a:xfrm>
            <a:off x="3634739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49524" y="3904487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9524" y="4178808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LIVE RECEIVING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9524" y="4544568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Weight &amp; welfare data at intake</a:t>
            </a:r>
          </a:p>
        </p:txBody>
      </p:sp>
      <p:sp>
        <p:nvSpPr>
          <p:cNvPr id="28" name="Oval 27"/>
          <p:cNvSpPr/>
          <p:nvPr/>
        </p:nvSpPr>
        <p:spPr>
          <a:xfrm>
            <a:off x="4316621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31405" y="3319272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1405" y="2953512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STUNNING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1405" y="2286000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Precise, humane, monitored</a:t>
            </a:r>
          </a:p>
        </p:txBody>
      </p:sp>
      <p:sp>
        <p:nvSpPr>
          <p:cNvPr id="32" name="Oval 31"/>
          <p:cNvSpPr/>
          <p:nvPr/>
        </p:nvSpPr>
        <p:spPr>
          <a:xfrm>
            <a:off x="4998502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3286" y="3904487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3286" y="4178808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SCALD &amp; PLUCK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3286" y="4544568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Temperature &amp; dwell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5680383" y="3630168"/>
            <a:ext cx="146304" cy="14630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95167" y="3319272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3230"/>
                </a:solidFill>
                <a:latin typeface="Segoe UI"/>
                <a:ea typeface="Microsoft YaHei"/>
              </a:rPr>
              <a:t>04 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5167" y="2953512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EVISCERATION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5167" y="2286000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Vision-guided inspection</a:t>
            </a:r>
          </a:p>
        </p:txBody>
      </p:sp>
      <p:sp>
        <p:nvSpPr>
          <p:cNvPr id="40" name="Oval 39"/>
          <p:cNvSpPr/>
          <p:nvPr/>
        </p:nvSpPr>
        <p:spPr>
          <a:xfrm>
            <a:off x="6362264" y="3630168"/>
            <a:ext cx="146304" cy="14630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77048" y="3904487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3230"/>
                </a:solidFill>
                <a:latin typeface="Segoe UI"/>
                <a:ea typeface="Microsoft YaHei"/>
              </a:rPr>
              <a:t>05 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7048" y="4178808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CHILLING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7048" y="4544568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Autonomous setpoints</a:t>
            </a:r>
          </a:p>
        </p:txBody>
      </p:sp>
      <p:sp>
        <p:nvSpPr>
          <p:cNvPr id="44" name="Oval 43"/>
          <p:cNvSpPr/>
          <p:nvPr/>
        </p:nvSpPr>
        <p:spPr>
          <a:xfrm>
            <a:off x="7044145" y="3630168"/>
            <a:ext cx="146304" cy="14630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58929" y="3319272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3230"/>
                </a:solidFill>
                <a:latin typeface="Segoe UI"/>
                <a:ea typeface="Microsoft YaHei"/>
              </a:rPr>
              <a:t>06 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8929" y="2953512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CUT-UP · DEBONE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8929" y="2286000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Yield-optimized cutting</a:t>
            </a:r>
          </a:p>
        </p:txBody>
      </p:sp>
      <p:sp>
        <p:nvSpPr>
          <p:cNvPr id="48" name="Oval 47"/>
          <p:cNvSpPr/>
          <p:nvPr/>
        </p:nvSpPr>
        <p:spPr>
          <a:xfrm>
            <a:off x="7726026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40810" y="3904487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40810" y="4178808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FURTHER PROCESSING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40810" y="4544568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Recipe &amp; quality control</a:t>
            </a:r>
          </a:p>
        </p:txBody>
      </p:sp>
      <p:sp>
        <p:nvSpPr>
          <p:cNvPr id="52" name="Oval 51"/>
          <p:cNvSpPr/>
          <p:nvPr/>
        </p:nvSpPr>
        <p:spPr>
          <a:xfrm>
            <a:off x="8407908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22692" y="3319272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2692" y="2953512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PACKAGING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2692" y="2286000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Traceability to the bite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5349240"/>
            <a:ext cx="108722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454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AI OVERLAY   </a:t>
            </a: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Vision grading on the kill line  ·  sensor fusion at every stage  ·  autonomous setpoints  ·  traceability to the bite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06  ·  THE Digit(AI)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1296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2A2118"/>
                </a:solidFill>
                <a:latin typeface="Georgia"/>
                <a:ea typeface="Microsoft YaHei"/>
              </a:rPr>
              <a:t>From bird to algorithm by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Four layers, one intelligent operating system for the poultry plant.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40280"/>
            <a:ext cx="1087221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59" y="2386584"/>
            <a:ext cx="45720" cy="5486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B"/>
                </a:solidFill>
                <a:latin typeface="Segoe UI"/>
                <a:ea typeface="Microsoft YaHei"/>
              </a:rPr>
              <a:t>EDGE &amp; IIoT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97480"/>
            <a:ext cx="102321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Line-side vision &amp; sensors  ·  secure remote access  ·  gateways  ·  China-compliant OT paths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9848" y="3227832"/>
            <a:ext cx="1046073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34439" y="3374136"/>
            <a:ext cx="45720" cy="5486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39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B"/>
                </a:solidFill>
                <a:latin typeface="Segoe UI"/>
                <a:ea typeface="Microsoft YaHei"/>
              </a:rPr>
              <a:t>DATA &amp;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3685032"/>
            <a:ext cx="982065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Plant data fabric  ·  Azure China / multi-cloud  ·  digital twins  ·  data residency &amp; PIPL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4215384"/>
            <a:ext cx="1004925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0" y="4361688"/>
            <a:ext cx="45720" cy="548640"/>
          </a:xfrm>
          <a:prstGeom prst="rect">
            <a:avLst/>
          </a:prstGeom>
          <a:solidFill>
            <a:srgbClr val="A83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7452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A83230"/>
                </a:solidFill>
                <a:latin typeface="Segoe UI"/>
                <a:ea typeface="Microsoft YaHei"/>
              </a:rPr>
              <a:t>AI &amp; AGENTS  ★  PRIME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4672584"/>
            <a:ext cx="94091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Carcass grading  ·  yield optimization  ·  food-safety early warning  ·  agents on Azure AI Foundry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92808" y="5202936"/>
            <a:ext cx="963777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57400" y="5349240"/>
            <a:ext cx="45720" cy="5486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0" y="5312664"/>
            <a:ext cx="4572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B"/>
                </a:solidFill>
                <a:latin typeface="Segoe UI"/>
                <a:ea typeface="Microsoft YaHei"/>
              </a:rPr>
              <a:t>HUMAN + MACHINE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660136"/>
            <a:ext cx="899769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Augmented operators  ·  line-side decision support  ·  Chinese-language interfaces  ·  local process fluency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07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07  ·  THE INTELLIGENCE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868680"/>
            <a:ext cx="10881360" cy="51296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2A2118"/>
                </a:solidFill>
                <a:latin typeface="Georgia"/>
                <a:ea typeface="Microsoft YaHei"/>
              </a:rPr>
              <a:t>Powered by </a:t>
            </a:r>
            <a:r>
              <a:rPr lang="en-US" altLang="zh-CN" sz="3000" b="1" i="0" dirty="0">
                <a:solidFill>
                  <a:srgbClr val="2A2118"/>
                </a:solidFill>
                <a:latin typeface="Georgia"/>
                <a:ea typeface="Microsoft YaHei"/>
              </a:rPr>
              <a:t>AI</a:t>
            </a:r>
            <a:endParaRPr sz="3000" b="1" i="0" dirty="0">
              <a:solidFill>
                <a:srgbClr val="2A2118"/>
              </a:solidFill>
              <a:latin typeface="Georgia"/>
              <a:ea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SAP data + industrial ontology + Azure AI Foundry — one integrated engine behind every Digit(AI) use case.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41648" y="3337560"/>
            <a:ext cx="356616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7781544" y="3337560"/>
            <a:ext cx="356616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9834372" y="4297680"/>
            <a:ext cx="0" cy="502920"/>
          </a:xfrm>
          <a:prstGeom prst="line">
            <a:avLst/>
          </a:prstGeom>
          <a:ln w="19050">
            <a:solidFill>
              <a:srgbClr val="D64541"/>
            </a:solidFill>
            <a:prstDash val="sysDot"/>
          </a:ln>
          <a:effectLst/>
        </p:spPr>
      </p:cxnSp>
      <p:cxnSp>
        <p:nvCxnSpPr>
          <p:cNvPr id="26" name="Connector 25"/>
          <p:cNvCxnSpPr/>
          <p:nvPr/>
        </p:nvCxnSpPr>
        <p:spPr>
          <a:xfrm flipH="1">
            <a:off x="2350008" y="4800600"/>
            <a:ext cx="7484364" cy="0"/>
          </a:xfrm>
          <a:prstGeom prst="line">
            <a:avLst/>
          </a:prstGeom>
          <a:ln w="19050">
            <a:solidFill>
              <a:srgbClr val="D64541"/>
            </a:solidFill>
            <a:prstDash val="sysDot"/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2350008" y="4297680"/>
            <a:ext cx="0" cy="502920"/>
          </a:xfrm>
          <a:prstGeom prst="line">
            <a:avLst/>
          </a:prstGeom>
          <a:ln w="19050">
            <a:solidFill>
              <a:srgbClr val="D64541"/>
            </a:solidFill>
            <a:prstDash val="sysDot"/>
            <a:tailEnd type="triangl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926080" y="4498848"/>
            <a:ext cx="6309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83230"/>
                </a:solidFill>
                <a:latin typeface="Segoe UI"/>
                <a:ea typeface="Microsoft YaHei"/>
              </a:rPr>
              <a:t>every decision lands back in the lines and the ERP — one connected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377440"/>
            <a:ext cx="338328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2377440"/>
            <a:ext cx="327355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SAP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BUSINESS BACKBONE
S/4HANA: orders, batches, costs,
supply chain — the system of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8264" y="2377440"/>
            <a:ext cx="338328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53127" y="2377440"/>
            <a:ext cx="327355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ONTOLOGY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SEMANTIC LAYER
One shared language for assets,
process steps, flocks and lots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2377440"/>
            <a:ext cx="3392424" cy="1920240"/>
          </a:xfrm>
          <a:prstGeom prst="rect">
            <a:avLst/>
          </a:prstGeom>
          <a:solidFill>
            <a:srgbClr val="F6E7C8"/>
          </a:solidFill>
          <a:ln w="17780">
            <a:solidFill>
              <a:srgbClr val="D6454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2377440"/>
            <a:ext cx="3282696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A83230"/>
                </a:solidFill>
                <a:latin typeface="Segoe UI"/>
                <a:ea typeface="Microsoft YaHei"/>
              </a:rPr>
              <a:t>AI FOUNDRY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MODEL &amp; AGENT FACTORY
Azure AI Foundry on Azure China:
build, deploy, govern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890" y="182880"/>
            <a:ext cx="3528778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0" y="5806440"/>
            <a:ext cx="3959352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lat geometric hen mascot in yolk orange" title="flat geometric hen mascot in yolk oran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4023360"/>
            <a:ext cx="246888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097280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5A623"/>
                </a:solidFill>
                <a:latin typeface="Segoe UI"/>
                <a:ea typeface="Microsoft YaHei"/>
              </a:rPr>
              <a:t>ACT II  ·  DIGIT(AI) × SUNNER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10881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0F4FA"/>
                </a:solidFill>
                <a:latin typeface="Georgia"/>
                <a:ea typeface="Microsoft YaHei"/>
              </a:rPr>
              <a:t>Same plants. Same birds.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80360"/>
            <a:ext cx="10881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5A623"/>
                </a:solidFill>
                <a:latin typeface="Georgia"/>
                <a:ea typeface="Microsoft YaHei"/>
              </a:rPr>
              <a:t>New intelligence.</a:t>
            </a:r>
          </a:p>
        </p:txBody>
      </p:sp>
      <p:pic>
        <p:nvPicPr>
          <p:cNvPr id="8" name="Picture 7" descr="scribble_under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403" y="3657600"/>
            <a:ext cx="3955897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9B89A"/>
                </a:solidFill>
                <a:latin typeface="Segoe UI"/>
                <a:ea typeface="Microsoft YaHei"/>
              </a:rPr>
              <a:t>How GEA Digit(AI) can take Sunner to another level.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09  ·  ACT II · DIGIT(AI) × SUNNER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1296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2A2118"/>
                </a:solidFill>
                <a:latin typeface="Georgia"/>
                <a:ea typeface="Microsoft YaHei"/>
              </a:rPr>
              <a:t>How GEA can </a:t>
            </a:r>
            <a:r>
              <a:rPr lang="en-US" altLang="zh-CN" sz="3000" b="1" i="0" dirty="0">
                <a:solidFill>
                  <a:srgbClr val="2A2118"/>
                </a:solidFill>
                <a:latin typeface="Georgia"/>
                <a:ea typeface="Microsoft YaHei"/>
              </a:rPr>
              <a:t>help </a:t>
            </a:r>
            <a:r>
              <a:rPr sz="3000" b="1" i="0" dirty="0">
                <a:solidFill>
                  <a:srgbClr val="2A2118"/>
                </a:solidFill>
                <a:latin typeface="Georgia"/>
                <a:ea typeface="Microsoft YaHei"/>
              </a:rPr>
              <a:t>take Sunner to another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Same plants, same GEA lines — new intelligence on top: six AI superpowers ready to deploy on the Sunner chain.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59" y="231343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ibbl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09" y="2331720"/>
            <a:ext cx="1525333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59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+1–2%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935224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Meat yield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246120"/>
            <a:ext cx="314553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Vision carcass grading + yield-optimized cut-up: more grams sold per bird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14884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79" y="231343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cribbl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29" y="2331720"/>
            <a:ext cx="1525333" cy="777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26279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−15%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2935224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Energy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246120"/>
            <a:ext cx="314553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Autonomous chilling &amp; scalding setpoints, tuned live to load and ambient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8" y="214884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231343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cribbl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449" y="2331720"/>
            <a:ext cx="1525333" cy="7772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99%+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35224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Line uptime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46120"/>
            <a:ext cx="314553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Predictive maintenance on pluckers, pumps and compressors before they fail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02336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59" y="418795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scribbl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09" y="4206240"/>
            <a:ext cx="1525333" cy="7772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59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48h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8568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4809744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Earlier warning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5120640"/>
            <a:ext cx="314553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Food-safety early warning — Salmonella &amp; Campylobacter signals before they spread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1688" y="402336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26279" y="418795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scribbl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29" y="4206240"/>
            <a:ext cx="1525333" cy="7772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26279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−20%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79" y="4809744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Water &amp; chemicals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79" y="5120640"/>
            <a:ext cx="314553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Smart washdown and process-water optimization, per shift and per flock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5008" y="402336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0" y="418795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scribbl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449" y="4206240"/>
            <a:ext cx="1525333" cy="7772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29600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10x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65208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809744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Faster decisions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120640"/>
            <a:ext cx="314553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Line-side and management decisions in hours, not weeks — across the fleet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016752"/>
            <a:ext cx="10881360" cy="29463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5D4C"/>
                </a:solidFill>
                <a:latin typeface="Segoe UI"/>
                <a:ea typeface="Microsoft YaHei"/>
              </a:rPr>
              <a:t>Source: </a:t>
            </a: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Indicative target ranges — GEA pilot benchmarks and industry references; validated against each pilot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10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10  ·  IN CHINA FOR CHINA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868680"/>
            <a:ext cx="10881360" cy="51296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2A2118"/>
                </a:solidFill>
                <a:latin typeface="Georgia"/>
                <a:ea typeface="Microsoft YaHei"/>
              </a:rPr>
              <a:t>Poultry AI accelerates when it is local by design.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AI as the prime example of China → Global.</a:t>
            </a:r>
          </a:p>
        </p:txBody>
      </p:sp>
      <p:sp>
        <p:nvSpPr>
          <p:cNvPr id="23" name="deckkit-intent:{&quot;weight&quot;: &quot;left&quot;, &quot;reason&quot;: &quot;statement page: the claim carries the left, the commitments sit quiet at right&quot;}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2468880"/>
            <a:ext cx="5760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Build &amp; prove in China.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154680"/>
            <a:ext cx="5760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7B"/>
                </a:solidFill>
                <a:latin typeface="Georgia"/>
                <a:ea typeface="Microsoft YaHei"/>
              </a:rPr>
              <a:t>Export the system worldwide.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2926080" cy="10972"/>
          </a:xfrm>
          <a:prstGeom prst="rect">
            <a:avLst/>
          </a:prstGeom>
          <a:solidFill>
            <a:srgbClr val="DDCB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297680"/>
            <a:ext cx="5760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Flock data stays local; intelligence and architecture scale.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514600"/>
            <a:ext cx="245973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21424" y="2660904"/>
            <a:ext cx="82296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21424" y="2862072"/>
            <a:ext cx="21671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2118"/>
                </a:solidFill>
                <a:latin typeface="Segoe UI"/>
                <a:ea typeface="Microsoft YaHei"/>
              </a:rPr>
              <a:t>Local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3300984"/>
            <a:ext cx="21671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5D4C"/>
                </a:solidFill>
                <a:latin typeface="Segoe UI"/>
                <a:ea typeface="Microsoft YaHei"/>
              </a:rPr>
              <a:t>CSL / DSL / PIPL compliant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2514600"/>
            <a:ext cx="245973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427464" y="2660904"/>
            <a:ext cx="82296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27464" y="2862072"/>
            <a:ext cx="21671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2118"/>
                </a:solidFill>
                <a:latin typeface="Segoe UI"/>
                <a:ea typeface="Microsoft YaHei"/>
              </a:rPr>
              <a:t>Local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7464" y="3300984"/>
            <a:ext cx="21671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5D4C"/>
                </a:solidFill>
                <a:latin typeface="Segoe UI"/>
                <a:ea typeface="Microsoft YaHei"/>
              </a:rPr>
              <a:t>Decisions in days, not quarters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4087368"/>
            <a:ext cx="245973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821424" y="4233672"/>
            <a:ext cx="82296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21424" y="4434840"/>
            <a:ext cx="21671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2118"/>
                </a:solidFill>
                <a:latin typeface="Segoe UI"/>
                <a:ea typeface="Microsoft YaHei"/>
              </a:rPr>
              <a:t>Local talent &amp; partners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4873752"/>
            <a:ext cx="21671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5D4C"/>
                </a:solidFill>
                <a:latin typeface="Segoe UI"/>
                <a:ea typeface="Microsoft YaHei"/>
              </a:rPr>
              <a:t>China unit owns execution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4087368"/>
            <a:ext cx="245973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27464" y="4233672"/>
            <a:ext cx="82296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27464" y="4434840"/>
            <a:ext cx="21671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2118"/>
                </a:solidFill>
                <a:latin typeface="Segoe UI"/>
                <a:ea typeface="Microsoft YaHei"/>
              </a:rPr>
              <a:t>Local value 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4" y="4873752"/>
            <a:ext cx="21671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5D4C"/>
                </a:solidFill>
                <a:latin typeface="Segoe UI"/>
                <a:ea typeface="Microsoft YaHei"/>
              </a:rPr>
              <a:t>Chinese poultry customers 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11  ·  REPEAT THE STORY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1296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2A2118"/>
                </a:solidFill>
                <a:latin typeface="Georgia"/>
                <a:ea typeface="Microsoft YaHei"/>
              </a:rPr>
              <a:t>The</a:t>
            </a:r>
            <a:r>
              <a:rPr lang="en-US" sz="3000" b="1" i="0" dirty="0">
                <a:solidFill>
                  <a:srgbClr val="2A2118"/>
                </a:solidFill>
                <a:latin typeface="Georgia"/>
                <a:ea typeface="Microsoft YaHei"/>
              </a:rPr>
              <a:t> </a:t>
            </a:r>
            <a:r>
              <a:rPr sz="3000" b="1" i="0" dirty="0">
                <a:solidFill>
                  <a:srgbClr val="2A2118"/>
                </a:solidFill>
                <a:latin typeface="Georgia"/>
                <a:ea typeface="Microsoft YaHei"/>
              </a:rPr>
              <a:t>playbook is not a one-off. It is a template.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One proven story — now a repeatability engine for China, and for the world.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59" y="2313432"/>
            <a:ext cx="256032" cy="320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7C7B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971800"/>
            <a:ext cx="31455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A2118"/>
                </a:solidFill>
                <a:latin typeface="Segoe UI"/>
                <a:ea typeface="Microsoft YaHei"/>
              </a:rPr>
              <a:t>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429000"/>
            <a:ext cx="314553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GEA China × Sunner: equipment, partnership and trust that helped build Asia's No.1 full-chain champion.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1488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26279" y="2313432"/>
            <a:ext cx="256032" cy="32004"/>
          </a:xfrm>
          <a:prstGeom prst="rect">
            <a:avLst/>
          </a:prstGeom>
          <a:solidFill>
            <a:srgbClr val="9C6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9C6400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971800"/>
            <a:ext cx="31455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A2118"/>
                </a:solidFill>
                <a:latin typeface="Segoe UI"/>
                <a:ea typeface="Microsoft YaHei"/>
              </a:rPr>
              <a:t>AMPLIFIED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429000"/>
            <a:ext cx="314553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Digit(AI) will overlay the same plants: yield, energy, uptime, food safety — intelligence on lines GEA already built.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21488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2313432"/>
            <a:ext cx="256032" cy="32004"/>
          </a:xfrm>
          <a:prstGeom prst="rect">
            <a:avLst/>
          </a:prstGeom>
          <a:solidFill>
            <a:srgbClr val="A83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A83230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71800"/>
            <a:ext cx="31455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A2118"/>
                </a:solidFill>
                <a:latin typeface="Segoe UI"/>
                <a:ea typeface="Microsoft YaHei"/>
              </a:rPr>
              <a:t>REPEATED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29000"/>
            <a:ext cx="314553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The same playbook scales to every China integrator — and exports to global poultry players worldwide.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434840"/>
            <a:ext cx="108722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4562856"/>
            <a:ext cx="45720" cy="3108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4434840"/>
            <a:ext cx="10241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6400"/>
                </a:solidFill>
                <a:latin typeface="Segoe UI"/>
                <a:ea typeface="Microsoft YaHei"/>
              </a:rPr>
              <a:t>NEXT BUSINESS MODEL   </a:t>
            </a: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yield-based pricing  ·  outcome-based contracts  ·  service productization  ·  fleet benchmarking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A2118"/>
                </a:solidFill>
                <a:latin typeface="Segoe UI"/>
                <a:ea typeface="Microsoft YaHei"/>
              </a:rPr>
              <a:t>China's next integrators are waiting — 禾丰, 温氏, 正大, 新希望 — and so are poultry players worldwide.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83230"/>
                </a:solidFill>
                <a:latin typeface="Segoe UI"/>
                <a:ea typeface="Microsoft YaHei"/>
              </a:rPr>
              <a:t>The story GEA China wrote with Sunner can be written again — everywhere.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12 / 12</a:t>
            </a:r>
          </a:p>
        </p:txBody>
      </p:sp>
      <p:pic>
        <p:nvPicPr>
          <p:cNvPr id="19" name="Picture 18" descr="qu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890" y="91440"/>
            <a:ext cx="3528778" cy="23774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5806440"/>
            <a:ext cx="3959352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lat geometric hen mascot in yolk orange with comb-red comb" title="flat geometric hen mascot in yolk orange with comb-red com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857500"/>
            <a:ext cx="3154680" cy="3154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A2118"/>
                </a:solidFill>
                <a:latin typeface="Georgia"/>
                <a:ea typeface="Microsoft YaHei"/>
              </a:rPr>
              <a:t>THE FUTURE IS NOT A DESTINATION.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331720"/>
            <a:ext cx="10881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E7C7B"/>
                </a:solidFill>
                <a:latin typeface="Georgia"/>
                <a:ea typeface="Microsoft YaHei"/>
              </a:rPr>
              <a:t>IT IS A SYSTEM WE BUILD.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291840"/>
            <a:ext cx="2011680" cy="10972"/>
          </a:xfrm>
          <a:prstGeom prst="rect">
            <a:avLst/>
          </a:prstGeom>
          <a:solidFill>
            <a:srgbClr val="DDCB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9144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A2118"/>
                </a:solidFill>
                <a:latin typeface="Segoe UI"/>
                <a:ea typeface="Microsoft YaHei"/>
              </a:rPr>
              <a:t>GEA × Digit(AI)</a:t>
            </a:r>
            <a:r>
              <a:rPr sz="1400" b="1" i="0">
                <a:solidFill>
                  <a:srgbClr val="6B5D4C"/>
                </a:solidFill>
                <a:latin typeface="Segoe UI"/>
                <a:ea typeface="Microsoft YaHei"/>
              </a:rPr>
              <a:t>   ·   PFA POULTRY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IN CHINA  ·  FOR CHINA  ·  FOR THE WORLD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572000"/>
            <a:ext cx="8229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The Sunner story, written once — ready to repeat everywhere. Poultry AI is the first system we take from China to Global.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3657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A2118"/>
                </a:solidFill>
                <a:latin typeface="Segoe UI"/>
                <a:ea typeface="Microsoft YaHei"/>
              </a:rPr>
              <a:t>Let's engineer it.</a:t>
            </a:r>
          </a:p>
        </p:txBody>
      </p:sp>
      <p:pic>
        <p:nvPicPr>
          <p:cNvPr id="29" name="Picture 28" descr="scribble_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150" y="5230368"/>
            <a:ext cx="89573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2102</Words>
  <Application>Microsoft Office PowerPoint</Application>
  <PresentationFormat>Custom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Lee</cp:lastModifiedBy>
  <cp:revision>3</cp:revision>
  <dcterms:created xsi:type="dcterms:W3CDTF">2013-01-27T09:14:16Z</dcterms:created>
  <dcterms:modified xsi:type="dcterms:W3CDTF">2026-08-28T06:59:18Z</dcterms:modified>
  <cp:category/>
</cp:coreProperties>
</file>